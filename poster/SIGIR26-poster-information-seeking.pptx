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ster" id="{91820433-9175-061f-b485-8e37fa5a8130}">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Four-minute walkthrough. Open with the device: both halves of the poster ask the same question, what do people actually use this tool for, and each half answers it the way that tool answers things. So you are not reading about the two philosophies, you are watching them. Left, Browse and Verify, 241 search sessions: four separate results, each one deep-linked to the section of the paper it comes from. Lookup is the core job, 46.1 percent, nearly three times the chatbot rate; the tool is chosen for relevance, accuracy and traceable sources; topics skew transactional, shopping, bureaucracy, finance; and three in ten sessions end with no further action because the need was met on the page. Right, Delegate and Consume, 247 chatbot sessions: the same kind of question answered as one synthesised paragraph. Guidance is 34.3 percent against 22.8 on search, and generative work is 19.8 versus zero; people choose it for a synthesised answer, speed, capability and personalisation, and almost never out of habit, 0.8 percent. Follow-up turn: what do they bring a chatbot instead of a search engine? Self and social skills, 15.8 percent, the strongest skew in the whole study, and health, 10.9 percent, and 66 percent of those guidance conversations end in a real-world action. Now the line that is deliberately not printed anywhere, so deliver it yourself and slow down: left, every result cites a source; right, none do; yet sessions end in action at the same rate, 43.6 and 44.5 percent. The missing source changes nothing about whether people act on the answer. The black band is the paper's contribution in one sentence. Bottom row: method, 84 Prolific participants in February 2025 reflecting on their own search and chat history, 488 coded sessions, Cohen's kappa 0.83 to 0.96; the chart is the task split, chi-square 84.6; implications are to benchmark the two separately and to score chatbots on source attribution and confidence in the high-stakes domains where they are actually used. Close on the limits and the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19456"/>
            <a:ext cx="8092440" cy="603504"/>
          </a:xfrm>
          <a:prstGeom prst="rect">
            <a:avLst/>
          </a:prstGeom>
          <a:noFill/>
          <a:ln/>
        </p:spPr>
        <p:txBody>
          <a:bodyPr wrap="square" rtlCol="0"/>
          <a:lstStyle>
            <a:lvl1pPr algn="l" indent="0" marL="0">
              <a:lnSpc>
                <a:spcPct val="88000"/>
              </a:lnSpc>
              <a:buNone/>
              <a:defRPr lang="en-US" sz="1900" b="1" dirty="0">
                <a:solidFill>
                  <a:srgbClr val="16161A"/>
                </a:solidFill>
                <a:latin typeface="Century Schoolbook" pitchFamily="34" charset="0"/>
                <a:ea typeface="Century Schoolbook" pitchFamily="34" charset="-122"/>
                <a:cs typeface="Century Schoolbook" pitchFamily="34" charset="-120"/>
              </a:defRPr>
            </a:lvl1pPr>
          </a:lstStyle>
          <a:p>
            <a:pPr algn="l" indent="0" marL="0">
              <a:lnSpc>
                <a:spcPct val="88000"/>
              </a:lnSpc>
              <a:buNone/>
            </a:pPr>
            <a:r>
              <a:rPr lang="en-US" sz="1900" b="1" dirty="0">
                <a:solidFill>
                  <a:srgbClr val="16161A"/>
                </a:solidFill>
                <a:latin typeface="Century Schoolbook" pitchFamily="34" charset="0"/>
                <a:ea typeface="Century Schoolbook" pitchFamily="34" charset="-122"/>
                <a:cs typeface="Century Schoolbook" pitchFamily="34" charset="-120"/>
              </a:rPr>
              <a:t>Paper title</a:t>
            </a:r>
            <a:endParaRPr lang="en-US" sz="1900" dirty="0"/>
          </a:p>
        </p:txBody>
      </p:sp>
      <p:sp>
        <p:nvSpPr>
          <p:cNvPr id="3" name="Text 0"/>
          <p:cNvSpPr/>
          <p:nvPr>
            <p:ph idx="101" type="body" hasCustomPrompt="1"/>
          </p:nvPr>
        </p:nvSpPr>
        <p:spPr>
          <a:xfrm>
            <a:off x="365760" y="868680"/>
            <a:ext cx="8092440" cy="164592"/>
          </a:xfrm>
          <a:prstGeom prst="rect">
            <a:avLst/>
          </a:prstGeom>
          <a:noFill/>
          <a:ln/>
        </p:spPr>
        <p:txBody>
          <a:bodyPr wrap="square" rtlCol="0"/>
          <a:lstStyle>
            <a:lvl1pPr algn="l" indent="0" marL="0">
              <a:buNone/>
              <a:defRPr lang="en-US" sz="850" dirty="0">
                <a:solidFill>
                  <a:srgbClr val="5F6368"/>
                </a:solidFill>
                <a:latin typeface="Arial" pitchFamily="34" charset="0"/>
                <a:ea typeface="Arial" pitchFamily="34" charset="-122"/>
                <a:cs typeface="Arial" pitchFamily="34" charset="-120"/>
              </a:defRPr>
            </a:lvl1pPr>
          </a:lstStyle>
          <a:p>
            <a:pPr algn="l" indent="0" marL="0">
              <a:buNone/>
            </a:pPr>
            <a:r>
              <a:rPr lang="en-US" sz="850" dirty="0">
                <a:solidFill>
                  <a:srgbClr val="5F6368"/>
                </a:solidFill>
                <a:latin typeface="Arial" pitchFamily="34" charset="0"/>
                <a:ea typeface="Arial" pitchFamily="34" charset="-122"/>
                <a:cs typeface="Arial" pitchFamily="34" charset="-120"/>
              </a:rPr>
              <a:t>Authors and venue</a:t>
            </a:r>
            <a:endParaRPr lang="en-US" sz="850" dirty="0"/>
          </a:p>
        </p:txBody>
      </p:sp>
      <p:sp>
        <p:nvSpPr>
          <p:cNvPr id="4" name="Text 0"/>
          <p:cNvSpPr/>
          <p:nvPr>
            <p:ph idx="102" type="body" hasCustomPrompt="1"/>
          </p:nvPr>
        </p:nvSpPr>
        <p:spPr>
          <a:xfrm>
            <a:off x="8732520" y="237744"/>
            <a:ext cx="3090672" cy="640080"/>
          </a:xfrm>
          <a:prstGeom prst="rect">
            <a:avLst/>
          </a:prstGeom>
          <a:noFill/>
          <a:ln/>
        </p:spPr>
        <p:txBody>
          <a:bodyPr wrap="square" rtlCol="0"/>
          <a:lstStyle>
            <a:lvl1pPr algn="r" indent="0" marL="0">
              <a:lnSpc>
                <a:spcPct val="106000"/>
              </a:lnSpc>
              <a:buNone/>
              <a:defRPr lang="en-US" sz="900" dirty="0">
                <a:solidFill>
                  <a:srgbClr val="16161A"/>
                </a:solidFill>
                <a:latin typeface="Arial" pitchFamily="34" charset="0"/>
                <a:ea typeface="Arial" pitchFamily="34" charset="-122"/>
                <a:cs typeface="Arial" pitchFamily="34" charset="-120"/>
              </a:defRPr>
            </a:lvl1pPr>
          </a:lstStyle>
          <a:p>
            <a:pPr algn="r" indent="0" marL="0">
              <a:lnSpc>
                <a:spcPct val="106000"/>
              </a:lnSpc>
              <a:buNone/>
            </a:pPr>
            <a:r>
              <a:rPr lang="en-US" sz="900" dirty="0">
                <a:solidFill>
                  <a:srgbClr val="16161A"/>
                </a:solidFill>
                <a:latin typeface="Arial" pitchFamily="34" charset="0"/>
                <a:ea typeface="Arial" pitchFamily="34" charset="-122"/>
                <a:cs typeface="Arial" pitchFamily="34" charset="-120"/>
              </a:rPr>
              <a:t>Presenters</a:t>
            </a:r>
            <a:endParaRPr lang="en-US" sz="900" dirty="0"/>
          </a:p>
        </p:txBody>
      </p:sp>
      <p:sp>
        <p:nvSpPr>
          <p:cNvPr id="5" name="sourceLine"/>
          <p:cNvSpPr txBox="1"/>
          <p:nvPr/>
        </p:nvSpPr>
        <p:spPr>
          <a:xfrm>
            <a:off x="365760" y="6620256"/>
            <a:ext cx="11460175" cy="155448"/>
          </a:xfrm>
          <a:prstGeom prst="rect">
            <a:avLst/>
          </a:prstGeom>
          <a:noFill/>
          <a:ln/>
        </p:spPr>
        <p:txBody>
          <a:bodyPr wrap="square" lIns="0" tIns="0" rIns="0" bIns="0" rtlCol="0" anchor="ctr"/>
          <a:lstStyle/>
          <a:p>
            <a:pPr algn="l" indent="0" marL="0">
              <a:buNone/>
            </a:pPr>
            <a:r>
              <a:rPr lang="en-US" sz="700" i="1" dirty="0">
                <a:solidFill>
                  <a:srgbClr val="5F6368"/>
                </a:solidFill>
                <a:latin typeface="Arial" pitchFamily="34" charset="0"/>
                <a:ea typeface="Arial" pitchFamily="34" charset="-122"/>
                <a:cs typeface="Arial" pitchFamily="34" charset="-120"/>
              </a:rPr>
              <a:t>Summarises Lichtenegger, Urman &amp; Hannák (2026), SIGIR '26, 1094–1105, CC BY 4.0. The results page and the chat are our illustrations of the paper's findings, not screenshots; queries in quotation marks are participant examples given in the paper.</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365760" y="219456"/>
            <a:ext cx="8092440" cy="603504"/>
          </a:xfrm>
          <a:prstGeom prst="rect">
            <a:avLst/>
          </a:prstGeom>
          <a:noFill/>
          <a:ln/>
        </p:spPr>
        <p:txBody>
          <a:bodyPr wrap="square" lIns="0" tIns="0" rIns="0" bIns="0" rtlCol="0" anchor="t"/>
          <a:lstStyle/>
          <a:p>
            <a:pPr algn="l" indent="0" marL="0">
              <a:lnSpc>
                <a:spcPct val="88000"/>
              </a:lnSpc>
              <a:buNone/>
            </a:pPr>
            <a:r>
              <a:rPr lang="en-US" sz="1900" b="1" dirty="0">
                <a:solidFill>
                  <a:srgbClr val="16161A"/>
                </a:solidFill>
                <a:latin typeface="Century Schoolbook" pitchFamily="34" charset="0"/>
                <a:ea typeface="Century Schoolbook" pitchFamily="34" charset="-122"/>
                <a:cs typeface="Century Schoolbook" pitchFamily="34" charset="-120"/>
              </a:rPr>
              <a:t>A Comparative Study of Users' Information-Seeking Practices Across Search Engines and Generative AI Chatbots</a:t>
            </a:r>
            <a:endParaRPr lang="en-US" sz="1900" dirty="0"/>
          </a:p>
        </p:txBody>
      </p:sp>
      <p:sp>
        <p:nvSpPr>
          <p:cNvPr id="3" name="Text 0"/>
          <p:cNvSpPr/>
          <p:nvPr>
            <p:ph idx="101" type="body" hasCustomPrompt="1"/>
          </p:nvPr>
        </p:nvSpPr>
        <p:spPr>
          <a:xfrm>
            <a:off x="365760" y="868680"/>
            <a:ext cx="8092440" cy="164592"/>
          </a:xfrm>
          <a:prstGeom prst="rect">
            <a:avLst/>
          </a:prstGeom>
          <a:noFill/>
          <a:ln/>
        </p:spPr>
        <p:txBody>
          <a:bodyPr wrap="square" lIns="0" tIns="0" rIns="0" bIns="0" rtlCol="0" anchor="t"/>
          <a:lstStyle/>
          <a:p>
            <a:pPr algn="l" indent="0" marL="0">
              <a:buNone/>
            </a:pPr>
            <a:r>
              <a:rPr lang="en-US" sz="850" dirty="0">
                <a:solidFill>
                  <a:srgbClr val="5F6368"/>
                </a:solidFill>
                <a:latin typeface="Arial" pitchFamily="34" charset="0"/>
                <a:ea typeface="Arial" pitchFamily="34" charset="-122"/>
                <a:cs typeface="Arial" pitchFamily="34" charset="-120"/>
              </a:rPr>
              <a:t>Elsa Lichtenegger · Aleksandra Urman · Anikó Hannák, University of Zurich      SIGIR '26, Melbourne · pp. 1094–1105 · doi.org/10.1145/3805712.3809525</a:t>
            </a:r>
            <a:endParaRPr lang="en-US" sz="850" dirty="0"/>
          </a:p>
        </p:txBody>
      </p:sp>
      <p:sp>
        <p:nvSpPr>
          <p:cNvPr id="4" name="Text 0"/>
          <p:cNvSpPr/>
          <p:nvPr>
            <p:ph idx="102" type="body" hasCustomPrompt="1"/>
          </p:nvPr>
        </p:nvSpPr>
        <p:spPr>
          <a:xfrm>
            <a:off x="8732520" y="237744"/>
            <a:ext cx="3090672" cy="640080"/>
          </a:xfrm>
          <a:prstGeom prst="rect">
            <a:avLst/>
          </a:prstGeom>
          <a:noFill/>
          <a:ln/>
        </p:spPr>
        <p:txBody>
          <a:bodyPr wrap="square" lIns="0" tIns="0" rIns="0" bIns="0" rtlCol="0" anchor="t"/>
          <a:lstStyle/>
          <a:p>
            <a:pPr algn="r" indent="0" marL="0">
              <a:lnSpc>
                <a:spcPct val="106000"/>
              </a:lnSpc>
              <a:buNone/>
            </a:pPr>
            <a:r>
              <a:rPr lang="en-US" sz="750" spc="100" kern="0" dirty="0">
                <a:solidFill>
                  <a:srgbClr val="5F6368"/>
                </a:solidFill>
                <a:latin typeface="Consolas" pitchFamily="34" charset="0"/>
                <a:ea typeface="Consolas" pitchFamily="34" charset="-122"/>
                <a:cs typeface="Consolas" pitchFamily="34" charset="-120"/>
              </a:rPr>
              <a:t>POSTER BY</a:t>
            </a:r>
            <a:endParaRPr lang="en-US" sz="900" dirty="0"/>
          </a:p>
          <a:p>
            <a:pPr algn="r" indent="0" marL="0">
              <a:lnSpc>
                <a:spcPct val="106000"/>
              </a:lnSpc>
              <a:buNone/>
            </a:pPr>
            <a:r>
              <a:rPr lang="en-US" sz="1050" b="1" dirty="0">
                <a:solidFill>
                  <a:srgbClr val="16161A"/>
                </a:solidFill>
                <a:latin typeface="Arial" pitchFamily="34" charset="0"/>
                <a:ea typeface="Arial" pitchFamily="34" charset="-122"/>
                <a:cs typeface="Arial" pitchFamily="34" charset="-120"/>
              </a:rPr>
              <a:t>[Your name] &amp; [Partner name]</a:t>
            </a:r>
            <a:endParaRPr lang="en-US" sz="900" dirty="0"/>
          </a:p>
          <a:p>
            <a:pPr algn="r" indent="0" marL="0">
              <a:lnSpc>
                <a:spcPct val="106000"/>
              </a:lnSpc>
              <a:buNone/>
            </a:pPr>
            <a:r>
              <a:rPr lang="en-US" sz="850" dirty="0">
                <a:solidFill>
                  <a:srgbClr val="5F6368"/>
                </a:solidFill>
                <a:latin typeface="Arial" pitchFamily="34" charset="0"/>
                <a:ea typeface="Arial" pitchFamily="34" charset="-122"/>
                <a:cs typeface="Arial" pitchFamily="34" charset="-120"/>
              </a:rPr>
              <a:t>[Course] · [University] · 13 October 2026</a:t>
            </a:r>
            <a:endParaRPr lang="en-US" sz="900" dirty="0"/>
          </a:p>
        </p:txBody>
      </p:sp>
      <p:sp>
        <p:nvSpPr>
          <p:cNvPr id="5" name="Text 3"/>
          <p:cNvSpPr txBox="1"/>
          <p:nvPr/>
        </p:nvSpPr>
        <p:spPr>
          <a:xfrm>
            <a:off x="365760" y="1069848"/>
            <a:ext cx="11460175" cy="164592"/>
          </a:xfrm>
          <a:prstGeom prst="rect">
            <a:avLst/>
          </a:prstGeom>
          <a:noFill/>
          <a:ln/>
        </p:spPr>
        <p:txBody>
          <a:bodyPr wrap="square" lIns="0" tIns="0" rIns="0" bIns="0" rtlCol="0" anchor="t"/>
          <a:lstStyle/>
          <a:p>
            <a:pPr indent="0" marL="0">
              <a:lnSpc>
                <a:spcPct val="95000"/>
              </a:lnSpc>
              <a:buNone/>
            </a:pPr>
            <a:r>
              <a:rPr lang="en-US" sz="800" b="1" dirty="0">
                <a:solidFill>
                  <a:srgbClr val="16161A"/>
                </a:solidFill>
                <a:latin typeface="Consolas" pitchFamily="34" charset="0"/>
                <a:ea typeface="Consolas" pitchFamily="34" charset="-122"/>
                <a:cs typeface="Consolas" pitchFamily="34" charset="-120"/>
              </a:rPr>
              <a:t>RESEARCH QUESTIONS   </a:t>
            </a:r>
            <a:pPr indent="0" marL="0">
              <a:lnSpc>
                <a:spcPct val="95000"/>
              </a:lnSpc>
              <a:buNone/>
            </a:pPr>
            <a:r>
              <a:rPr lang="en-US" sz="800" dirty="0">
                <a:solidFill>
                  <a:srgbClr val="5F6368"/>
                </a:solidFill>
                <a:latin typeface="Consolas" pitchFamily="34" charset="0"/>
                <a:ea typeface="Consolas" pitchFamily="34" charset="-122"/>
                <a:cs typeface="Consolas" pitchFamily="34" charset="-120"/>
              </a:rPr>
              <a:t>RQ1  how do users choose between the two?     RQ2  how do sessions and task contexts differ?     RQ3  do stated preferences match actual use?</a:t>
            </a:r>
            <a:endParaRPr lang="en-US" sz="800" dirty="0"/>
          </a:p>
        </p:txBody>
      </p:sp>
      <p:sp>
        <p:nvSpPr>
          <p:cNvPr id="6" name="hr1.44"/>
          <p:cNvSpPr/>
          <p:nvPr/>
        </p:nvSpPr>
        <p:spPr>
          <a:xfrm>
            <a:off x="365760" y="1316736"/>
            <a:ext cx="11460175" cy="0"/>
          </a:xfrm>
          <a:prstGeom prst="line">
            <a:avLst/>
          </a:prstGeom>
          <a:noFill/>
          <a:ln w="15875">
            <a:solidFill>
              <a:srgbClr val="16161A"/>
            </a:solidFill>
            <a:prstDash val="solid"/>
          </a:ln>
        </p:spPr>
      </p:sp>
      <p:sp>
        <p:nvSpPr>
          <p:cNvPr id="7" name="vr6.62"/>
          <p:cNvSpPr/>
          <p:nvPr/>
        </p:nvSpPr>
        <p:spPr>
          <a:xfrm>
            <a:off x="6053328" y="1426464"/>
            <a:ext cx="0" cy="3127248"/>
          </a:xfrm>
          <a:prstGeom prst="line">
            <a:avLst/>
          </a:prstGeom>
          <a:noFill/>
          <a:ln w="9525">
            <a:solidFill>
              <a:srgbClr val="C9C9CE"/>
            </a:solidFill>
            <a:prstDash val="solid"/>
          </a:ln>
        </p:spPr>
      </p:sp>
      <p:sp>
        <p:nvSpPr>
          <p:cNvPr id="8" name="Text 6"/>
          <p:cNvSpPr txBox="1"/>
          <p:nvPr/>
        </p:nvSpPr>
        <p:spPr>
          <a:xfrm>
            <a:off x="365760" y="1408176"/>
            <a:ext cx="5504688" cy="256032"/>
          </a:xfrm>
          <a:prstGeom prst="rect">
            <a:avLst/>
          </a:prstGeom>
          <a:noFill/>
          <a:ln/>
        </p:spPr>
        <p:txBody>
          <a:bodyPr wrap="square" lIns="0" tIns="0" rIns="0" bIns="0" rtlCol="0" anchor="t"/>
          <a:lstStyle/>
          <a:p>
            <a:pPr indent="0" marL="0">
              <a:lnSpc>
                <a:spcPct val="95000"/>
              </a:lnSpc>
              <a:buNone/>
            </a:pPr>
            <a:r>
              <a:rPr lang="en-US" sz="1600" b="1" dirty="0">
                <a:solidFill>
                  <a:srgbClr val="16161A"/>
                </a:solidFill>
                <a:latin typeface="Century Schoolbook" pitchFamily="34" charset="0"/>
                <a:ea typeface="Century Schoolbook" pitchFamily="34" charset="-122"/>
                <a:cs typeface="Century Schoolbook" pitchFamily="34" charset="-120"/>
              </a:rPr>
              <a:t>Browse &amp; Verify</a:t>
            </a:r>
            <a:endParaRPr lang="en-US" sz="1600" dirty="0"/>
          </a:p>
        </p:txBody>
      </p:sp>
      <p:sp>
        <p:nvSpPr>
          <p:cNvPr id="9" name="Text 7"/>
          <p:cNvSpPr txBox="1"/>
          <p:nvPr/>
        </p:nvSpPr>
        <p:spPr>
          <a:xfrm>
            <a:off x="365760" y="1682496"/>
            <a:ext cx="5504688" cy="155448"/>
          </a:xfrm>
          <a:prstGeom prst="rect">
            <a:avLst/>
          </a:prstGeom>
          <a:noFill/>
          <a:ln/>
        </p:spPr>
        <p:txBody>
          <a:bodyPr wrap="square" lIns="0" tIns="0" rIns="0" bIns="0" rtlCol="0" anchor="t"/>
          <a:lstStyle/>
          <a:p>
            <a:pPr indent="0" marL="0">
              <a:lnSpc>
                <a:spcPct val="95000"/>
              </a:lnSpc>
              <a:buNone/>
            </a:pPr>
            <a:r>
              <a:rPr lang="en-US" sz="850" dirty="0">
                <a:solidFill>
                  <a:srgbClr val="5F6368"/>
                </a:solidFill>
                <a:latin typeface="Arial" pitchFamily="34" charset="0"/>
                <a:ea typeface="Arial" pitchFamily="34" charset="-122"/>
                <a:cs typeface="Arial" pitchFamily="34" charset="-120"/>
              </a:rPr>
              <a:t>241 search sessions · the user keeps control of the sources</a:t>
            </a:r>
            <a:endParaRPr lang="en-US" sz="850" dirty="0"/>
          </a:p>
        </p:txBody>
      </p:sp>
      <p:sp>
        <p:nvSpPr>
          <p:cNvPr id="10" name="searchBox"/>
          <p:cNvSpPr/>
          <p:nvPr/>
        </p:nvSpPr>
        <p:spPr>
          <a:xfrm>
            <a:off x="365760" y="1883664"/>
            <a:ext cx="4343400" cy="283464"/>
          </a:xfrm>
          <a:prstGeom prst="roundRect">
            <a:avLst>
              <a:gd name="adj" fmla="val 48387"/>
            </a:avLst>
          </a:prstGeom>
          <a:solidFill>
            <a:srgbClr val="FFFFFF"/>
          </a:solidFill>
          <a:ln w="12700">
            <a:solidFill>
              <a:srgbClr val="C9C9CE"/>
            </a:solidFill>
            <a:prstDash val="solid"/>
          </a:ln>
        </p:spPr>
      </p:sp>
      <p:sp>
        <p:nvSpPr>
          <p:cNvPr id="11" name="lens"/>
          <p:cNvSpPr/>
          <p:nvPr/>
        </p:nvSpPr>
        <p:spPr>
          <a:xfrm>
            <a:off x="484632" y="1970532"/>
            <a:ext cx="100584" cy="100584"/>
          </a:xfrm>
          <a:prstGeom prst="ellipse">
            <a:avLst/>
          </a:prstGeom>
          <a:ln w="12700">
            <a:solidFill>
              <a:srgbClr val="5F6368"/>
            </a:solidFill>
            <a:prstDash val="solid"/>
          </a:ln>
        </p:spPr>
      </p:sp>
      <p:sp>
        <p:nvSpPr>
          <p:cNvPr id="12" name="lensHandle"/>
          <p:cNvSpPr/>
          <p:nvPr/>
        </p:nvSpPr>
        <p:spPr>
          <a:xfrm rot="2700000">
            <a:off x="571500" y="2071116"/>
            <a:ext cx="50292" cy="11887"/>
          </a:xfrm>
          <a:prstGeom prst="rect">
            <a:avLst/>
          </a:prstGeom>
          <a:solidFill>
            <a:srgbClr val="5F6368"/>
          </a:solidFill>
          <a:ln w="3175">
            <a:solidFill>
              <a:srgbClr val="5F6368"/>
            </a:solidFill>
            <a:prstDash val="solid"/>
          </a:ln>
        </p:spPr>
      </p:sp>
      <p:sp>
        <p:nvSpPr>
          <p:cNvPr id="13" name="Text 11"/>
          <p:cNvSpPr txBox="1"/>
          <p:nvPr/>
        </p:nvSpPr>
        <p:spPr>
          <a:xfrm>
            <a:off x="676656" y="1883664"/>
            <a:ext cx="3931920" cy="283464"/>
          </a:xfrm>
          <a:prstGeom prst="rect">
            <a:avLst/>
          </a:prstGeom>
          <a:noFill/>
          <a:ln/>
        </p:spPr>
        <p:txBody>
          <a:bodyPr wrap="square" lIns="0" tIns="0" rIns="0" bIns="0" rtlCol="0" anchor="ctr"/>
          <a:lstStyle/>
          <a:p>
            <a:pPr indent="0" marL="0">
              <a:lnSpc>
                <a:spcPct val="95000"/>
              </a:lnSpc>
              <a:buNone/>
            </a:pPr>
            <a:r>
              <a:rPr lang="en-US" sz="1050" dirty="0">
                <a:solidFill>
                  <a:srgbClr val="16161A"/>
                </a:solidFill>
                <a:latin typeface="Arial" pitchFamily="34" charset="0"/>
                <a:ea typeface="Arial" pitchFamily="34" charset="-122"/>
                <a:cs typeface="Arial" pitchFamily="34" charset="-120"/>
              </a:rPr>
              <a:t>what do people actually use search engines for</a:t>
            </a:r>
            <a:endParaRPr lang="en-US" sz="1050" dirty="0"/>
          </a:p>
        </p:txBody>
      </p:sp>
      <p:sp>
        <p:nvSpPr>
          <p:cNvPr id="14" name="Text 12"/>
          <p:cNvSpPr txBox="1"/>
          <p:nvPr/>
        </p:nvSpPr>
        <p:spPr>
          <a:xfrm>
            <a:off x="365760" y="2212848"/>
            <a:ext cx="5504688" cy="118872"/>
          </a:xfrm>
          <a:prstGeom prst="rect">
            <a:avLst/>
          </a:prstGeom>
          <a:noFill/>
          <a:ln/>
        </p:spPr>
        <p:txBody>
          <a:bodyPr wrap="square" lIns="0" tIns="0" rIns="0" bIns="0" rtlCol="0" anchor="t"/>
          <a:lstStyle/>
          <a:p>
            <a:pPr indent="0" marL="0">
              <a:lnSpc>
                <a:spcPct val="95000"/>
              </a:lnSpc>
              <a:buNone/>
            </a:pPr>
            <a:r>
              <a:rPr lang="en-US" sz="800" dirty="0">
                <a:solidFill>
                  <a:srgbClr val="5F6368"/>
                </a:solidFill>
                <a:latin typeface="Arial" pitchFamily="34" charset="0"/>
                <a:ea typeface="Arial" pitchFamily="34" charset="-122"/>
                <a:cs typeface="Arial" pitchFamily="34" charset="-120"/>
              </a:rPr>
              <a:t>4 results · drawn from the 241 search sessions coded in the study</a:t>
            </a:r>
            <a:endParaRPr lang="en-US" sz="800" dirty="0"/>
          </a:p>
        </p:txBody>
      </p:sp>
      <p:sp>
        <p:nvSpPr>
          <p:cNvPr id="15" name="resT0"/>
          <p:cNvSpPr txBox="1"/>
          <p:nvPr/>
        </p:nvSpPr>
        <p:spPr>
          <a:xfrm>
            <a:off x="365760" y="2340864"/>
            <a:ext cx="5504688" cy="155448"/>
          </a:xfrm>
          <a:prstGeom prst="rect">
            <a:avLst/>
          </a:prstGeom>
          <a:noFill/>
          <a:ln/>
        </p:spPr>
        <p:txBody>
          <a:bodyPr wrap="square" lIns="0" tIns="0" rIns="0" bIns="0" rtlCol="0" anchor="t"/>
          <a:lstStyle/>
          <a:p>
            <a:pPr indent="0" marL="0">
              <a:lnSpc>
                <a:spcPct val="95000"/>
              </a:lnSpc>
              <a:buNone/>
            </a:pPr>
            <a:r>
              <a:rPr lang="en-US" sz="1050" dirty="0">
                <a:solidFill>
                  <a:srgbClr val="1A0DAB"/>
                </a:solidFill>
                <a:latin typeface="Arial" pitchFamily="34" charset="0"/>
                <a:ea typeface="Arial" pitchFamily="34" charset="-122"/>
                <a:cs typeface="Arial" pitchFamily="34" charset="-120"/>
              </a:rPr>
              <a:t>Lookup is the core job: 46.1% of search sessions</a:t>
            </a:r>
            <a:endParaRPr lang="en-US" sz="1050" dirty="0"/>
          </a:p>
        </p:txBody>
      </p:sp>
      <p:sp>
        <p:nvSpPr>
          <p:cNvPr id="16" name="resU0"/>
          <p:cNvSpPr txBox="1"/>
          <p:nvPr/>
        </p:nvSpPr>
        <p:spPr>
          <a:xfrm>
            <a:off x="365760" y="2500884"/>
            <a:ext cx="5504688" cy="118872"/>
          </a:xfrm>
          <a:prstGeom prst="rect">
            <a:avLst/>
          </a:prstGeom>
          <a:noFill/>
          <a:ln/>
        </p:spPr>
        <p:txBody>
          <a:bodyPr wrap="square" lIns="0" tIns="0" rIns="0" bIns="0" rtlCol="0" anchor="t"/>
          <a:lstStyle/>
          <a:p>
            <a:pPr indent="0" marL="0">
              <a:lnSpc>
                <a:spcPct val="95000"/>
              </a:lnSpc>
              <a:buNone/>
            </a:pPr>
            <a:r>
              <a:rPr lang="en-US" sz="800" dirty="0">
                <a:solidFill>
                  <a:srgbClr val="0F6B2E"/>
                </a:solidFill>
                <a:latin typeface="Arial" pitchFamily="34" charset="0"/>
                <a:ea typeface="Arial" pitchFamily="34" charset="-122"/>
                <a:cs typeface="Arial" pitchFamily="34" charset="-120"/>
              </a:rPr>
              <a:t>dl.acm.org › 10.1145/3805712.3809525 › §4.2.3 Tasks</a:t>
            </a:r>
            <a:endParaRPr lang="en-US" sz="800" dirty="0"/>
          </a:p>
        </p:txBody>
      </p:sp>
      <p:sp>
        <p:nvSpPr>
          <p:cNvPr id="17" name="resS0"/>
          <p:cNvSpPr txBox="1"/>
          <p:nvPr/>
        </p:nvSpPr>
        <p:spPr>
          <a:xfrm>
            <a:off x="365760" y="2624328"/>
            <a:ext cx="5504688" cy="237744"/>
          </a:xfrm>
          <a:prstGeom prst="rect">
            <a:avLst/>
          </a:prstGeom>
          <a:noFill/>
          <a:ln/>
        </p:spPr>
        <p:txBody>
          <a:bodyPr wrap="square" lIns="0" tIns="0" rIns="0" bIns="0" rtlCol="0" anchor="t"/>
          <a:lstStyle/>
          <a:p>
            <a:pPr indent="0" marL="0">
              <a:lnSpc>
                <a:spcPct val="95000"/>
              </a:lnSpc>
              <a:buNone/>
            </a:pPr>
            <a:r>
              <a:rPr lang="en-US" sz="800" dirty="0">
                <a:solidFill>
                  <a:srgbClr val="3C4043"/>
                </a:solidFill>
                <a:latin typeface="Arial" pitchFamily="34" charset="0"/>
                <a:ea typeface="Arial" pitchFamily="34" charset="-122"/>
                <a:cs typeface="Arial" pitchFamily="34" charset="-120"/>
              </a:rPr>
              <a:t>Nearly 3× the chatbot rate (17.8%). Exploratory 31.0%, guidance 22.8%, generative 0%. Search is for finding things, not for making them.</a:t>
            </a:r>
            <a:endParaRPr lang="en-US" sz="800" dirty="0"/>
          </a:p>
        </p:txBody>
      </p:sp>
      <p:sp>
        <p:nvSpPr>
          <p:cNvPr id="18" name="resT1"/>
          <p:cNvSpPr txBox="1"/>
          <p:nvPr/>
        </p:nvSpPr>
        <p:spPr>
          <a:xfrm>
            <a:off x="365760" y="2889504"/>
            <a:ext cx="5504688" cy="155448"/>
          </a:xfrm>
          <a:prstGeom prst="rect">
            <a:avLst/>
          </a:prstGeom>
          <a:noFill/>
          <a:ln/>
        </p:spPr>
        <p:txBody>
          <a:bodyPr wrap="square" lIns="0" tIns="0" rIns="0" bIns="0" rtlCol="0" anchor="t"/>
          <a:lstStyle/>
          <a:p>
            <a:pPr indent="0" marL="0">
              <a:lnSpc>
                <a:spcPct val="95000"/>
              </a:lnSpc>
              <a:buNone/>
            </a:pPr>
            <a:r>
              <a:rPr lang="en-US" sz="1050" dirty="0">
                <a:solidFill>
                  <a:srgbClr val="1A0DAB"/>
                </a:solidFill>
                <a:latin typeface="Arial" pitchFamily="34" charset="0"/>
                <a:ea typeface="Arial" pitchFamily="34" charset="-122"/>
                <a:cs typeface="Arial" pitchFamily="34" charset="-120"/>
              </a:rPr>
              <a:t>Chosen for relevance, accuracy and traceable sources</a:t>
            </a:r>
            <a:endParaRPr lang="en-US" sz="1050" dirty="0"/>
          </a:p>
        </p:txBody>
      </p:sp>
      <p:sp>
        <p:nvSpPr>
          <p:cNvPr id="19" name="resU1"/>
          <p:cNvSpPr txBox="1"/>
          <p:nvPr/>
        </p:nvSpPr>
        <p:spPr>
          <a:xfrm>
            <a:off x="365760" y="3049524"/>
            <a:ext cx="5504688" cy="118872"/>
          </a:xfrm>
          <a:prstGeom prst="rect">
            <a:avLst/>
          </a:prstGeom>
          <a:noFill/>
          <a:ln/>
        </p:spPr>
        <p:txBody>
          <a:bodyPr wrap="square" lIns="0" tIns="0" rIns="0" bIns="0" rtlCol="0" anchor="t"/>
          <a:lstStyle/>
          <a:p>
            <a:pPr indent="0" marL="0">
              <a:lnSpc>
                <a:spcPct val="95000"/>
              </a:lnSpc>
              <a:buNone/>
            </a:pPr>
            <a:r>
              <a:rPr lang="en-US" sz="800" dirty="0">
                <a:solidFill>
                  <a:srgbClr val="0F6B2E"/>
                </a:solidFill>
                <a:latin typeface="Arial" pitchFamily="34" charset="0"/>
                <a:ea typeface="Arial" pitchFamily="34" charset="-122"/>
                <a:cs typeface="Arial" pitchFamily="34" charset="-120"/>
              </a:rPr>
              <a:t>dl.acm.org › 10.1145/3805712.3809525 › §4.1.1 Preference categories</a:t>
            </a:r>
            <a:endParaRPr lang="en-US" sz="800" dirty="0"/>
          </a:p>
        </p:txBody>
      </p:sp>
      <p:sp>
        <p:nvSpPr>
          <p:cNvPr id="20" name="resS1"/>
          <p:cNvSpPr txBox="1"/>
          <p:nvPr/>
        </p:nvSpPr>
        <p:spPr>
          <a:xfrm>
            <a:off x="365760" y="3172968"/>
            <a:ext cx="5504688" cy="237744"/>
          </a:xfrm>
          <a:prstGeom prst="rect">
            <a:avLst/>
          </a:prstGeom>
          <a:noFill/>
          <a:ln/>
        </p:spPr>
        <p:txBody>
          <a:bodyPr wrap="square" lIns="0" tIns="0" rIns="0" bIns="0" rtlCol="0" anchor="t"/>
          <a:lstStyle/>
          <a:p>
            <a:pPr indent="0" marL="0">
              <a:lnSpc>
                <a:spcPct val="95000"/>
              </a:lnSpc>
              <a:buNone/>
            </a:pPr>
            <a:r>
              <a:rPr lang="en-US" sz="800" dirty="0">
                <a:solidFill>
                  <a:srgbClr val="3C4043"/>
                </a:solidFill>
                <a:latin typeface="Arial" pitchFamily="34" charset="0"/>
                <a:ea typeface="Arial" pitchFamily="34" charset="-122"/>
                <a:cs typeface="Arial" pitchFamily="34" charset="-120"/>
              </a:rPr>
              <a:t>Relevance / accuracy 15.8% · functionality 13.3% · familiarity and habit 13.3% · reaching a known site 10.8% · source variety 9.5%.</a:t>
            </a:r>
            <a:endParaRPr lang="en-US" sz="800" dirty="0"/>
          </a:p>
        </p:txBody>
      </p:sp>
      <p:sp>
        <p:nvSpPr>
          <p:cNvPr id="21" name="resT2"/>
          <p:cNvSpPr txBox="1"/>
          <p:nvPr/>
        </p:nvSpPr>
        <p:spPr>
          <a:xfrm>
            <a:off x="365760" y="3438144"/>
            <a:ext cx="5504688" cy="155448"/>
          </a:xfrm>
          <a:prstGeom prst="rect">
            <a:avLst/>
          </a:prstGeom>
          <a:noFill/>
          <a:ln/>
        </p:spPr>
        <p:txBody>
          <a:bodyPr wrap="square" lIns="0" tIns="0" rIns="0" bIns="0" rtlCol="0" anchor="t"/>
          <a:lstStyle/>
          <a:p>
            <a:pPr indent="0" marL="0">
              <a:lnSpc>
                <a:spcPct val="95000"/>
              </a:lnSpc>
              <a:buNone/>
            </a:pPr>
            <a:r>
              <a:rPr lang="en-US" sz="1050" dirty="0">
                <a:solidFill>
                  <a:srgbClr val="1A0DAB"/>
                </a:solidFill>
                <a:latin typeface="Arial" pitchFamily="34" charset="0"/>
                <a:ea typeface="Arial" pitchFamily="34" charset="-122"/>
                <a:cs typeface="Arial" pitchFamily="34" charset="-120"/>
              </a:rPr>
              <a:t>Topics skew transactional and navigational</a:t>
            </a:r>
            <a:endParaRPr lang="en-US" sz="1050" dirty="0"/>
          </a:p>
        </p:txBody>
      </p:sp>
      <p:sp>
        <p:nvSpPr>
          <p:cNvPr id="22" name="resU2"/>
          <p:cNvSpPr txBox="1"/>
          <p:nvPr/>
        </p:nvSpPr>
        <p:spPr>
          <a:xfrm>
            <a:off x="365760" y="3598164"/>
            <a:ext cx="5504688" cy="118872"/>
          </a:xfrm>
          <a:prstGeom prst="rect">
            <a:avLst/>
          </a:prstGeom>
          <a:noFill/>
          <a:ln/>
        </p:spPr>
        <p:txBody>
          <a:bodyPr wrap="square" lIns="0" tIns="0" rIns="0" bIns="0" rtlCol="0" anchor="t"/>
          <a:lstStyle/>
          <a:p>
            <a:pPr indent="0" marL="0">
              <a:lnSpc>
                <a:spcPct val="95000"/>
              </a:lnSpc>
              <a:buNone/>
            </a:pPr>
            <a:r>
              <a:rPr lang="en-US" sz="800" dirty="0">
                <a:solidFill>
                  <a:srgbClr val="0F6B2E"/>
                </a:solidFill>
                <a:latin typeface="Arial" pitchFamily="34" charset="0"/>
                <a:ea typeface="Arial" pitchFamily="34" charset="-122"/>
                <a:cs typeface="Arial" pitchFamily="34" charset="-120"/>
              </a:rPr>
              <a:t>dl.acm.org › 10.1145/3805712.3809525 › §4.2.1 Topics</a:t>
            </a:r>
            <a:endParaRPr lang="en-US" sz="800" dirty="0"/>
          </a:p>
        </p:txBody>
      </p:sp>
      <p:sp>
        <p:nvSpPr>
          <p:cNvPr id="23" name="resS2"/>
          <p:cNvSpPr txBox="1"/>
          <p:nvPr/>
        </p:nvSpPr>
        <p:spPr>
          <a:xfrm>
            <a:off x="365760" y="3721608"/>
            <a:ext cx="5504688" cy="237744"/>
          </a:xfrm>
          <a:prstGeom prst="rect">
            <a:avLst/>
          </a:prstGeom>
          <a:noFill/>
          <a:ln/>
        </p:spPr>
        <p:txBody>
          <a:bodyPr wrap="square" lIns="0" tIns="0" rIns="0" bIns="0" rtlCol="0" anchor="t"/>
          <a:lstStyle/>
          <a:p>
            <a:pPr indent="0" marL="0">
              <a:lnSpc>
                <a:spcPct val="95000"/>
              </a:lnSpc>
              <a:buNone/>
            </a:pPr>
            <a:r>
              <a:rPr lang="en-US" sz="800" dirty="0">
                <a:solidFill>
                  <a:srgbClr val="3C4043"/>
                </a:solidFill>
                <a:latin typeface="Arial" pitchFamily="34" charset="0"/>
                <a:ea typeface="Arial" pitchFamily="34" charset="-122"/>
                <a:cs typeface="Arial" pitchFamily="34" charset="-120"/>
              </a:rPr>
              <a:t>Shopping (r = +3.2), bureaucracy (+2.7) and finance (+2.7) are over-represented: ‘Samsung S25 Ultra case’, ‘DMV near me’, ‘city utilities payment’.</a:t>
            </a:r>
            <a:endParaRPr lang="en-US" sz="800" dirty="0"/>
          </a:p>
        </p:txBody>
      </p:sp>
      <p:sp>
        <p:nvSpPr>
          <p:cNvPr id="24" name="resT3"/>
          <p:cNvSpPr txBox="1"/>
          <p:nvPr/>
        </p:nvSpPr>
        <p:spPr>
          <a:xfrm>
            <a:off x="365760" y="3986784"/>
            <a:ext cx="5504688" cy="155448"/>
          </a:xfrm>
          <a:prstGeom prst="rect">
            <a:avLst/>
          </a:prstGeom>
          <a:noFill/>
          <a:ln/>
        </p:spPr>
        <p:txBody>
          <a:bodyPr wrap="square" lIns="0" tIns="0" rIns="0" bIns="0" rtlCol="0" anchor="t"/>
          <a:lstStyle/>
          <a:p>
            <a:pPr indent="0" marL="0">
              <a:lnSpc>
                <a:spcPct val="95000"/>
              </a:lnSpc>
              <a:buNone/>
            </a:pPr>
            <a:r>
              <a:rPr lang="en-US" sz="1050" dirty="0">
                <a:solidFill>
                  <a:srgbClr val="1A0DAB"/>
                </a:solidFill>
                <a:latin typeface="Arial" pitchFamily="34" charset="0"/>
                <a:ea typeface="Arial" pitchFamily="34" charset="-122"/>
                <a:cs typeface="Arial" pitchFamily="34" charset="-120"/>
              </a:rPr>
              <a:t>Three in ten sessions end with no further action</a:t>
            </a:r>
            <a:endParaRPr lang="en-US" sz="1050" dirty="0"/>
          </a:p>
        </p:txBody>
      </p:sp>
      <p:sp>
        <p:nvSpPr>
          <p:cNvPr id="25" name="resU3"/>
          <p:cNvSpPr txBox="1"/>
          <p:nvPr/>
        </p:nvSpPr>
        <p:spPr>
          <a:xfrm>
            <a:off x="365760" y="4146804"/>
            <a:ext cx="5504688" cy="118872"/>
          </a:xfrm>
          <a:prstGeom prst="rect">
            <a:avLst/>
          </a:prstGeom>
          <a:noFill/>
          <a:ln/>
        </p:spPr>
        <p:txBody>
          <a:bodyPr wrap="square" lIns="0" tIns="0" rIns="0" bIns="0" rtlCol="0" anchor="t"/>
          <a:lstStyle/>
          <a:p>
            <a:pPr indent="0" marL="0">
              <a:lnSpc>
                <a:spcPct val="95000"/>
              </a:lnSpc>
              <a:buNone/>
            </a:pPr>
            <a:r>
              <a:rPr lang="en-US" sz="800" dirty="0">
                <a:solidFill>
                  <a:srgbClr val="0F6B2E"/>
                </a:solidFill>
                <a:latin typeface="Arial" pitchFamily="34" charset="0"/>
                <a:ea typeface="Arial" pitchFamily="34" charset="-122"/>
                <a:cs typeface="Arial" pitchFamily="34" charset="-120"/>
              </a:rPr>
              <a:t>dl.acm.org › 10.1145/3805712.3809525 › §4.2.4 Outcomes</a:t>
            </a:r>
            <a:endParaRPr lang="en-US" sz="800" dirty="0"/>
          </a:p>
        </p:txBody>
      </p:sp>
      <p:sp>
        <p:nvSpPr>
          <p:cNvPr id="26" name="resS3"/>
          <p:cNvSpPr txBox="1"/>
          <p:nvPr/>
        </p:nvSpPr>
        <p:spPr>
          <a:xfrm>
            <a:off x="365760" y="4270248"/>
            <a:ext cx="5504688" cy="237744"/>
          </a:xfrm>
          <a:prstGeom prst="rect">
            <a:avLst/>
          </a:prstGeom>
          <a:noFill/>
          <a:ln/>
        </p:spPr>
        <p:txBody>
          <a:bodyPr wrap="square" lIns="0" tIns="0" rIns="0" bIns="0" rtlCol="0" anchor="t"/>
          <a:lstStyle/>
          <a:p>
            <a:pPr indent="0" marL="0">
              <a:lnSpc>
                <a:spcPct val="95000"/>
              </a:lnSpc>
              <a:buNone/>
            </a:pPr>
            <a:r>
              <a:rPr lang="en-US" sz="800" dirty="0">
                <a:solidFill>
                  <a:srgbClr val="3C4043"/>
                </a:solidFill>
                <a:latin typeface="Arial" pitchFamily="34" charset="0"/>
                <a:ea typeface="Arial" pitchFamily="34" charset="-122"/>
                <a:cs typeface="Arial" pitchFamily="34" charset="-120"/>
              </a:rPr>
              <a:t>The need is met on the page: 29.5% no action, 43.6% acted on it, 2.5% searched again. Habit alone explains 13.3% of tool choice.</a:t>
            </a:r>
            <a:endParaRPr lang="en-US" sz="800" dirty="0"/>
          </a:p>
        </p:txBody>
      </p:sp>
      <p:sp>
        <p:nvSpPr>
          <p:cNvPr id="27" name="Text 25"/>
          <p:cNvSpPr txBox="1"/>
          <p:nvPr/>
        </p:nvSpPr>
        <p:spPr>
          <a:xfrm>
            <a:off x="6309360" y="1408176"/>
            <a:ext cx="5513832" cy="256032"/>
          </a:xfrm>
          <a:prstGeom prst="rect">
            <a:avLst/>
          </a:prstGeom>
          <a:noFill/>
          <a:ln/>
        </p:spPr>
        <p:txBody>
          <a:bodyPr wrap="square" lIns="0" tIns="0" rIns="0" bIns="0" rtlCol="0" anchor="t"/>
          <a:lstStyle/>
          <a:p>
            <a:pPr indent="0" marL="0">
              <a:lnSpc>
                <a:spcPct val="95000"/>
              </a:lnSpc>
              <a:buNone/>
            </a:pPr>
            <a:r>
              <a:rPr lang="en-US" sz="1600" b="1" dirty="0">
                <a:solidFill>
                  <a:srgbClr val="16161A"/>
                </a:solidFill>
                <a:latin typeface="Century Schoolbook" pitchFamily="34" charset="0"/>
                <a:ea typeface="Century Schoolbook" pitchFamily="34" charset="-122"/>
                <a:cs typeface="Century Schoolbook" pitchFamily="34" charset="-120"/>
              </a:rPr>
              <a:t>Delegate &amp; Consume</a:t>
            </a:r>
            <a:endParaRPr lang="en-US" sz="1600" dirty="0"/>
          </a:p>
        </p:txBody>
      </p:sp>
      <p:sp>
        <p:nvSpPr>
          <p:cNvPr id="28" name="Text 26"/>
          <p:cNvSpPr txBox="1"/>
          <p:nvPr/>
        </p:nvSpPr>
        <p:spPr>
          <a:xfrm>
            <a:off x="6309360" y="1682496"/>
            <a:ext cx="5513832" cy="155448"/>
          </a:xfrm>
          <a:prstGeom prst="rect">
            <a:avLst/>
          </a:prstGeom>
          <a:noFill/>
          <a:ln/>
        </p:spPr>
        <p:txBody>
          <a:bodyPr wrap="square" lIns="0" tIns="0" rIns="0" bIns="0" rtlCol="0" anchor="t"/>
          <a:lstStyle/>
          <a:p>
            <a:pPr indent="0" marL="0">
              <a:lnSpc>
                <a:spcPct val="95000"/>
              </a:lnSpc>
              <a:buNone/>
            </a:pPr>
            <a:r>
              <a:rPr lang="en-US" sz="850" dirty="0">
                <a:solidFill>
                  <a:srgbClr val="5F6368"/>
                </a:solidFill>
                <a:latin typeface="Arial" pitchFamily="34" charset="0"/>
                <a:ea typeface="Arial" pitchFamily="34" charset="-122"/>
                <a:cs typeface="Arial" pitchFamily="34" charset="-120"/>
              </a:rPr>
              <a:t>247 chatbot sessions · the user hands the work over</a:t>
            </a:r>
            <a:endParaRPr lang="en-US" sz="850" dirty="0"/>
          </a:p>
        </p:txBody>
      </p:sp>
      <p:sp>
        <p:nvSpPr>
          <p:cNvPr id="29" name="prompt2.1"/>
          <p:cNvSpPr/>
          <p:nvPr/>
        </p:nvSpPr>
        <p:spPr>
          <a:xfrm>
            <a:off x="8421624" y="1920240"/>
            <a:ext cx="3401568" cy="274320"/>
          </a:xfrm>
          <a:prstGeom prst="roundRect">
            <a:avLst>
              <a:gd name="adj" fmla="val 46667"/>
            </a:avLst>
          </a:prstGeom>
          <a:solidFill>
            <a:srgbClr val="16161A"/>
          </a:solidFill>
          <a:ln w="6350">
            <a:solidFill>
              <a:srgbClr val="16161A"/>
            </a:solidFill>
            <a:prstDash val="solid"/>
          </a:ln>
        </p:spPr>
      </p:sp>
      <p:sp>
        <p:nvSpPr>
          <p:cNvPr id="30" name="Text 28"/>
          <p:cNvSpPr txBox="1"/>
          <p:nvPr/>
        </p:nvSpPr>
        <p:spPr>
          <a:xfrm>
            <a:off x="8549640" y="1920240"/>
            <a:ext cx="3145536" cy="274320"/>
          </a:xfrm>
          <a:prstGeom prst="rect">
            <a:avLst/>
          </a:prstGeom>
          <a:noFill/>
          <a:ln/>
        </p:spPr>
        <p:txBody>
          <a:bodyPr wrap="square" lIns="0" tIns="0" rIns="0" bIns="0" rtlCol="0" anchor="ctr"/>
          <a:lstStyle/>
          <a:p>
            <a:pPr indent="0" marL="0">
              <a:lnSpc>
                <a:spcPct val="95000"/>
              </a:lnSpc>
              <a:buNone/>
            </a:pPr>
            <a:r>
              <a:rPr lang="en-US" sz="950" dirty="0">
                <a:solidFill>
                  <a:srgbClr val="FFFFFF"/>
                </a:solidFill>
                <a:latin typeface="Arial" pitchFamily="34" charset="0"/>
                <a:ea typeface="Arial" pitchFamily="34" charset="-122"/>
                <a:cs typeface="Arial" pitchFamily="34" charset="-120"/>
              </a:rPr>
              <a:t>what do people actually use ai chatbots for?</a:t>
            </a:r>
            <a:endParaRPr lang="en-US" sz="950" dirty="0"/>
          </a:p>
        </p:txBody>
      </p:sp>
      <p:sp>
        <p:nvSpPr>
          <p:cNvPr id="31" name="reply1"/>
          <p:cNvSpPr/>
          <p:nvPr/>
        </p:nvSpPr>
        <p:spPr>
          <a:xfrm>
            <a:off x="6309360" y="2340864"/>
            <a:ext cx="4892040" cy="786384"/>
          </a:xfrm>
          <a:prstGeom prst="roundRect">
            <a:avLst>
              <a:gd name="adj" fmla="val 16279"/>
            </a:avLst>
          </a:prstGeom>
          <a:solidFill>
            <a:srgbClr val="F1F1F3"/>
          </a:solidFill>
          <a:ln w="6350">
            <a:solidFill>
              <a:srgbClr val="F1F1F3"/>
            </a:solidFill>
            <a:prstDash val="solid"/>
          </a:ln>
        </p:spPr>
      </p:sp>
      <p:sp>
        <p:nvSpPr>
          <p:cNvPr id="32" name="Text 30"/>
          <p:cNvSpPr txBox="1"/>
          <p:nvPr/>
        </p:nvSpPr>
        <p:spPr>
          <a:xfrm>
            <a:off x="6455664" y="2432304"/>
            <a:ext cx="4599432" cy="603504"/>
          </a:xfrm>
          <a:prstGeom prst="rect">
            <a:avLst/>
          </a:prstGeom>
          <a:noFill/>
          <a:ln/>
        </p:spPr>
        <p:txBody>
          <a:bodyPr wrap="square" lIns="0" tIns="0" rIns="0" bIns="0" rtlCol="0" anchor="t"/>
          <a:lstStyle/>
          <a:p>
            <a:pPr indent="0" marL="0">
              <a:lnSpc>
                <a:spcPct val="95000"/>
              </a:lnSpc>
              <a:buNone/>
            </a:pPr>
            <a:r>
              <a:rPr lang="en-US" sz="900" dirty="0">
                <a:solidFill>
                  <a:srgbClr val="16161A"/>
                </a:solidFill>
                <a:latin typeface="Arial" pitchFamily="34" charset="0"/>
                <a:ea typeface="Arial" pitchFamily="34" charset="-122"/>
                <a:cs typeface="Arial" pitchFamily="34" charset="-120"/>
              </a:rPr>
              <a:t>Short version: guidance, 34.3% of chatbot sessions against 22.8% on search, plus the things search cannot do at all: writing text, code and images (19.8% versus 0%). People pick me for a synthesised answer (22.3%), speed and capability (19.4% each) and personalisation (17.0%). Out of habit? Almost never (0.8%).</a:t>
            </a:r>
            <a:endParaRPr lang="en-US" sz="900" dirty="0"/>
          </a:p>
        </p:txBody>
      </p:sp>
      <p:sp>
        <p:nvSpPr>
          <p:cNvPr id="33" name="prompt3.58"/>
          <p:cNvSpPr/>
          <p:nvPr/>
        </p:nvSpPr>
        <p:spPr>
          <a:xfrm>
            <a:off x="8119872" y="3273552"/>
            <a:ext cx="3703320" cy="274320"/>
          </a:xfrm>
          <a:prstGeom prst="roundRect">
            <a:avLst>
              <a:gd name="adj" fmla="val 46667"/>
            </a:avLst>
          </a:prstGeom>
          <a:solidFill>
            <a:srgbClr val="16161A"/>
          </a:solidFill>
          <a:ln w="6350">
            <a:solidFill>
              <a:srgbClr val="16161A"/>
            </a:solidFill>
            <a:prstDash val="solid"/>
          </a:ln>
        </p:spPr>
      </p:sp>
      <p:sp>
        <p:nvSpPr>
          <p:cNvPr id="34" name="Text 32"/>
          <p:cNvSpPr txBox="1"/>
          <p:nvPr/>
        </p:nvSpPr>
        <p:spPr>
          <a:xfrm>
            <a:off x="8247888" y="3273552"/>
            <a:ext cx="3447288" cy="274320"/>
          </a:xfrm>
          <a:prstGeom prst="rect">
            <a:avLst/>
          </a:prstGeom>
          <a:noFill/>
          <a:ln/>
        </p:spPr>
        <p:txBody>
          <a:bodyPr wrap="square" lIns="0" tIns="0" rIns="0" bIns="0" rtlCol="0" anchor="ctr"/>
          <a:lstStyle/>
          <a:p>
            <a:pPr indent="0" marL="0">
              <a:lnSpc>
                <a:spcPct val="95000"/>
              </a:lnSpc>
              <a:buNone/>
            </a:pPr>
            <a:r>
              <a:rPr lang="en-US" sz="950" dirty="0">
                <a:solidFill>
                  <a:srgbClr val="FFFFFF"/>
                </a:solidFill>
                <a:latin typeface="Arial" pitchFamily="34" charset="0"/>
                <a:ea typeface="Arial" pitchFamily="34" charset="-122"/>
                <a:cs typeface="Arial" pitchFamily="34" charset="-120"/>
              </a:rPr>
              <a:t>what do they bring you instead of a search engine?</a:t>
            </a:r>
            <a:endParaRPr lang="en-US" sz="950" dirty="0"/>
          </a:p>
        </p:txBody>
      </p:sp>
      <p:sp>
        <p:nvSpPr>
          <p:cNvPr id="35" name="reply2"/>
          <p:cNvSpPr/>
          <p:nvPr/>
        </p:nvSpPr>
        <p:spPr>
          <a:xfrm>
            <a:off x="6309360" y="3694176"/>
            <a:ext cx="4892040" cy="658368"/>
          </a:xfrm>
          <a:prstGeom prst="roundRect">
            <a:avLst>
              <a:gd name="adj" fmla="val 19444"/>
            </a:avLst>
          </a:prstGeom>
          <a:solidFill>
            <a:srgbClr val="F1F1F3"/>
          </a:solidFill>
          <a:ln w="6350">
            <a:solidFill>
              <a:srgbClr val="F1F1F3"/>
            </a:solidFill>
            <a:prstDash val="solid"/>
          </a:ln>
        </p:spPr>
      </p:sp>
      <p:sp>
        <p:nvSpPr>
          <p:cNvPr id="36" name="Text 34"/>
          <p:cNvSpPr txBox="1"/>
          <p:nvPr/>
        </p:nvSpPr>
        <p:spPr>
          <a:xfrm>
            <a:off x="6455664" y="3785616"/>
            <a:ext cx="4599432" cy="475488"/>
          </a:xfrm>
          <a:prstGeom prst="rect">
            <a:avLst/>
          </a:prstGeom>
          <a:noFill/>
          <a:ln/>
        </p:spPr>
        <p:txBody>
          <a:bodyPr wrap="square" lIns="0" tIns="0" rIns="0" bIns="0" rtlCol="0" anchor="t"/>
          <a:lstStyle/>
          <a:p>
            <a:pPr indent="0" marL="0">
              <a:lnSpc>
                <a:spcPct val="95000"/>
              </a:lnSpc>
              <a:buNone/>
            </a:pPr>
            <a:r>
              <a:rPr lang="en-US" sz="900" dirty="0">
                <a:solidFill>
                  <a:srgbClr val="16161A"/>
                </a:solidFill>
                <a:latin typeface="Arial" pitchFamily="34" charset="0"/>
                <a:ea typeface="Arial" pitchFamily="34" charset="-122"/>
                <a:cs typeface="Arial" pitchFamily="34" charset="-120"/>
              </a:rPr>
              <a:t>The personal and the consequential: self and social skills (15.8%, the strongest skew in the study), as in ‘how long should I hold out for a response after a date?’, and health (10.9%). 66% of those guidance conversations end in a real-world action.</a:t>
            </a:r>
            <a:endParaRPr lang="en-US" sz="900" dirty="0"/>
          </a:p>
        </p:txBody>
      </p:sp>
      <p:sp>
        <p:nvSpPr>
          <p:cNvPr id="37" name="gapBand"/>
          <p:cNvSpPr/>
          <p:nvPr/>
        </p:nvSpPr>
        <p:spPr>
          <a:xfrm>
            <a:off x="0" y="4645152"/>
            <a:ext cx="12191695" cy="566928"/>
          </a:xfrm>
          <a:prstGeom prst="rect">
            <a:avLst/>
          </a:prstGeom>
          <a:solidFill>
            <a:srgbClr val="16161A"/>
          </a:solidFill>
          <a:ln w="3175">
            <a:solidFill>
              <a:srgbClr val="16161A"/>
            </a:solidFill>
            <a:prstDash val="solid"/>
          </a:ln>
        </p:spPr>
      </p:sp>
      <p:sp>
        <p:nvSpPr>
          <p:cNvPr id="38" name="Text 36"/>
          <p:cNvSpPr txBox="1"/>
          <p:nvPr/>
        </p:nvSpPr>
        <p:spPr>
          <a:xfrm>
            <a:off x="365760" y="4645152"/>
            <a:ext cx="822960" cy="566928"/>
          </a:xfrm>
          <a:prstGeom prst="rect">
            <a:avLst/>
          </a:prstGeom>
          <a:noFill/>
          <a:ln/>
        </p:spPr>
        <p:txBody>
          <a:bodyPr wrap="square" lIns="0" tIns="0" rIns="0" bIns="0" rtlCol="0" anchor="ctr"/>
          <a:lstStyle/>
          <a:p>
            <a:pPr indent="0" marL="0">
              <a:lnSpc>
                <a:spcPct val="95000"/>
              </a:lnSpc>
              <a:buNone/>
            </a:pPr>
            <a:r>
              <a:rPr lang="en-US" sz="850" spc="100" kern="0" dirty="0">
                <a:solidFill>
                  <a:srgbClr val="9A9AA4"/>
                </a:solidFill>
                <a:latin typeface="Consolas" pitchFamily="34" charset="0"/>
                <a:ea typeface="Consolas" pitchFamily="34" charset="-122"/>
                <a:cs typeface="Consolas" pitchFamily="34" charset="-120"/>
              </a:rPr>
              <a:t>THE GAP</a:t>
            </a:r>
            <a:endParaRPr lang="en-US" sz="850" dirty="0"/>
          </a:p>
        </p:txBody>
      </p:sp>
      <p:sp>
        <p:nvSpPr>
          <p:cNvPr id="39" name="gapLine"/>
          <p:cNvSpPr txBox="1"/>
          <p:nvPr/>
        </p:nvSpPr>
        <p:spPr>
          <a:xfrm>
            <a:off x="1325880" y="4645152"/>
            <a:ext cx="10469880" cy="566928"/>
          </a:xfrm>
          <a:prstGeom prst="rect">
            <a:avLst/>
          </a:prstGeom>
          <a:noFill/>
          <a:ln/>
        </p:spPr>
        <p:txBody>
          <a:bodyPr wrap="square" lIns="0" tIns="0" rIns="0" bIns="0" rtlCol="0" anchor="ctr"/>
          <a:lstStyle/>
          <a:p>
            <a:pPr indent="0" marL="0">
              <a:lnSpc>
                <a:spcPct val="95000"/>
              </a:lnSpc>
              <a:buNone/>
            </a:pPr>
            <a:r>
              <a:rPr lang="en-US" sz="1300" b="1" dirty="0">
                <a:solidFill>
                  <a:srgbClr val="FFFFFF"/>
                </a:solidFill>
                <a:latin typeface="Century Schoolbook" pitchFamily="34" charset="0"/>
                <a:ea typeface="Century Schoolbook" pitchFamily="34" charset="-122"/>
                <a:cs typeface="Century Schoolbook" pitchFamily="34" charset="-120"/>
              </a:rPr>
              <a:t>Users call chatbots the efficient option, then ask them the highest-stakes questions, and act on the answer.</a:t>
            </a:r>
            <a:endParaRPr lang="en-US" sz="1300" dirty="0"/>
          </a:p>
        </p:txBody>
      </p:sp>
      <p:sp>
        <p:nvSpPr>
          <p:cNvPr id="40" name="hr5.92"/>
          <p:cNvSpPr/>
          <p:nvPr/>
        </p:nvSpPr>
        <p:spPr>
          <a:xfrm>
            <a:off x="365760" y="5413248"/>
            <a:ext cx="11460175" cy="0"/>
          </a:xfrm>
          <a:prstGeom prst="line">
            <a:avLst/>
          </a:prstGeom>
          <a:noFill/>
          <a:ln w="9525">
            <a:solidFill>
              <a:srgbClr val="C9C9CE"/>
            </a:solidFill>
            <a:prstDash val="solid"/>
          </a:ln>
        </p:spPr>
      </p:sp>
      <p:sp>
        <p:nvSpPr>
          <p:cNvPr id="41" name="vr4.2"/>
          <p:cNvSpPr/>
          <p:nvPr/>
        </p:nvSpPr>
        <p:spPr>
          <a:xfrm>
            <a:off x="3840480" y="5504688"/>
            <a:ext cx="0" cy="1005840"/>
          </a:xfrm>
          <a:prstGeom prst="line">
            <a:avLst/>
          </a:prstGeom>
          <a:noFill/>
          <a:ln w="9525">
            <a:solidFill>
              <a:srgbClr val="C9C9CE"/>
            </a:solidFill>
            <a:prstDash val="solid"/>
          </a:ln>
        </p:spPr>
      </p:sp>
      <p:sp>
        <p:nvSpPr>
          <p:cNvPr id="42" name="vr9.72"/>
          <p:cNvSpPr/>
          <p:nvPr/>
        </p:nvSpPr>
        <p:spPr>
          <a:xfrm>
            <a:off x="8887968" y="5504688"/>
            <a:ext cx="0" cy="1005840"/>
          </a:xfrm>
          <a:prstGeom prst="line">
            <a:avLst/>
          </a:prstGeom>
          <a:noFill/>
          <a:ln w="9525">
            <a:solidFill>
              <a:srgbClr val="C9C9CE"/>
            </a:solidFill>
            <a:prstDash val="solid"/>
          </a:ln>
        </p:spPr>
      </p:sp>
      <p:sp>
        <p:nvSpPr>
          <p:cNvPr id="43" name="Text 41"/>
          <p:cNvSpPr txBox="1"/>
          <p:nvPr/>
        </p:nvSpPr>
        <p:spPr>
          <a:xfrm>
            <a:off x="365760" y="5477256"/>
            <a:ext cx="1828800" cy="146304"/>
          </a:xfrm>
          <a:prstGeom prst="rect">
            <a:avLst/>
          </a:prstGeom>
          <a:noFill/>
          <a:ln/>
        </p:spPr>
        <p:txBody>
          <a:bodyPr wrap="square" lIns="0" tIns="0" rIns="0" bIns="0" rtlCol="0" anchor="t"/>
          <a:lstStyle/>
          <a:p>
            <a:pPr indent="0" marL="0">
              <a:lnSpc>
                <a:spcPct val="95000"/>
              </a:lnSpc>
              <a:buNone/>
            </a:pPr>
            <a:r>
              <a:rPr lang="en-US" sz="800" spc="60" kern="0" dirty="0">
                <a:solidFill>
                  <a:srgbClr val="5F6368"/>
                </a:solidFill>
                <a:latin typeface="Consolas" pitchFamily="34" charset="0"/>
                <a:ea typeface="Consolas" pitchFamily="34" charset="-122"/>
                <a:cs typeface="Consolas" pitchFamily="34" charset="-120"/>
              </a:rPr>
              <a:t>METHOD</a:t>
            </a:r>
            <a:endParaRPr lang="en-US" sz="800" dirty="0"/>
          </a:p>
        </p:txBody>
      </p:sp>
      <p:sp>
        <p:nvSpPr>
          <p:cNvPr id="44" name="Text 42"/>
          <p:cNvSpPr txBox="1"/>
          <p:nvPr/>
        </p:nvSpPr>
        <p:spPr>
          <a:xfrm>
            <a:off x="365760" y="5660136"/>
            <a:ext cx="3291840" cy="512064"/>
          </a:xfrm>
          <a:prstGeom prst="rect">
            <a:avLst/>
          </a:prstGeom>
          <a:noFill/>
          <a:ln/>
        </p:spPr>
        <p:txBody>
          <a:bodyPr wrap="square" lIns="0" tIns="0" rIns="0" bIns="0" rtlCol="0" anchor="t"/>
          <a:lstStyle/>
          <a:p>
            <a:pPr indent="0" marL="0">
              <a:lnSpc>
                <a:spcPct val="95000"/>
              </a:lnSpc>
              <a:buNone/>
            </a:pPr>
            <a:r>
              <a:rPr lang="en-US" sz="800" dirty="0">
                <a:solidFill>
                  <a:srgbClr val="3C4043"/>
                </a:solidFill>
                <a:latin typeface="Arial" pitchFamily="34" charset="0"/>
                <a:ea typeface="Arial" pitchFamily="34" charset="-122"/>
                <a:cs typeface="Arial" pitchFamily="34" charset="-120"/>
              </a:rPr>
              <a:t>84 US adults, recruited on Prolific, surveyed February 2025. Each opened their own history and reflected on their last three search sessions and last three chatbot sessions: the goal, what triggered it, what they did, what they did next, and why that tool.</a:t>
            </a:r>
            <a:endParaRPr lang="en-US" sz="800" dirty="0"/>
          </a:p>
        </p:txBody>
      </p:sp>
      <p:sp>
        <p:nvSpPr>
          <p:cNvPr id="45" name="Text 43"/>
          <p:cNvSpPr txBox="1"/>
          <p:nvPr/>
        </p:nvSpPr>
        <p:spPr>
          <a:xfrm>
            <a:off x="365760" y="6199632"/>
            <a:ext cx="1463040" cy="128016"/>
          </a:xfrm>
          <a:prstGeom prst="rect">
            <a:avLst/>
          </a:prstGeom>
          <a:noFill/>
          <a:ln/>
        </p:spPr>
        <p:txBody>
          <a:bodyPr wrap="square" lIns="0" tIns="0" rIns="0" bIns="0" rtlCol="0" anchor="t"/>
          <a:lstStyle/>
          <a:p>
            <a:pPr indent="0" marL="0">
              <a:lnSpc>
                <a:spcPct val="95000"/>
              </a:lnSpc>
              <a:buNone/>
            </a:pPr>
            <a:r>
              <a:rPr lang="en-US" sz="750" b="1" dirty="0">
                <a:solidFill>
                  <a:srgbClr val="3730C4"/>
                </a:solidFill>
                <a:latin typeface="Arial" pitchFamily="34" charset="0"/>
                <a:ea typeface="Arial" pitchFamily="34" charset="-122"/>
                <a:cs typeface="Arial" pitchFamily="34" charset="-120"/>
              </a:rPr>
              <a:t>241 search</a:t>
            </a:r>
            <a:endParaRPr lang="en-US" sz="750" dirty="0"/>
          </a:p>
        </p:txBody>
      </p:sp>
      <p:sp>
        <p:nvSpPr>
          <p:cNvPr id="46" name="Text 44"/>
          <p:cNvSpPr txBox="1"/>
          <p:nvPr/>
        </p:nvSpPr>
        <p:spPr>
          <a:xfrm>
            <a:off x="2194560" y="6199632"/>
            <a:ext cx="1463040" cy="128016"/>
          </a:xfrm>
          <a:prstGeom prst="rect">
            <a:avLst/>
          </a:prstGeom>
          <a:noFill/>
          <a:ln/>
        </p:spPr>
        <p:txBody>
          <a:bodyPr wrap="square" lIns="0" tIns="0" rIns="0" bIns="0" rtlCol="0" anchor="t"/>
          <a:lstStyle/>
          <a:p>
            <a:pPr algn="r" indent="0" marL="0">
              <a:lnSpc>
                <a:spcPct val="95000"/>
              </a:lnSpc>
              <a:buNone/>
            </a:pPr>
            <a:r>
              <a:rPr lang="en-US" sz="750" b="1" dirty="0">
                <a:solidFill>
                  <a:srgbClr val="B3261E"/>
                </a:solidFill>
                <a:latin typeface="Arial" pitchFamily="34" charset="0"/>
                <a:ea typeface="Arial" pitchFamily="34" charset="-122"/>
                <a:cs typeface="Arial" pitchFamily="34" charset="-120"/>
              </a:rPr>
              <a:t>247 chatbot</a:t>
            </a:r>
            <a:endParaRPr lang="en-US" sz="750" dirty="0"/>
          </a:p>
        </p:txBody>
      </p:sp>
      <p:sp>
        <p:nvSpPr>
          <p:cNvPr id="47" name="corpusSE"/>
          <p:cNvSpPr/>
          <p:nvPr/>
        </p:nvSpPr>
        <p:spPr>
          <a:xfrm>
            <a:off x="365760" y="6336792"/>
            <a:ext cx="1607395" cy="109728"/>
          </a:xfrm>
          <a:prstGeom prst="rect">
            <a:avLst/>
          </a:prstGeom>
          <a:solidFill>
            <a:srgbClr val="3730C4"/>
          </a:solidFill>
          <a:ln w="3175">
            <a:solidFill>
              <a:srgbClr val="3730C4"/>
            </a:solidFill>
            <a:prstDash val="solid"/>
          </a:ln>
        </p:spPr>
      </p:sp>
      <p:sp>
        <p:nvSpPr>
          <p:cNvPr id="48" name="corpusAI"/>
          <p:cNvSpPr/>
          <p:nvPr/>
        </p:nvSpPr>
        <p:spPr>
          <a:xfrm>
            <a:off x="2009731" y="6336792"/>
            <a:ext cx="1647869" cy="109728"/>
          </a:xfrm>
          <a:prstGeom prst="rect">
            <a:avLst/>
          </a:prstGeom>
          <a:solidFill>
            <a:srgbClr val="B3261E"/>
          </a:solidFill>
          <a:ln w="3175">
            <a:solidFill>
              <a:srgbClr val="B3261E"/>
            </a:solidFill>
            <a:prstDash val="solid"/>
          </a:ln>
        </p:spPr>
      </p:sp>
      <p:sp>
        <p:nvSpPr>
          <p:cNvPr id="49" name="Text 47"/>
          <p:cNvSpPr txBox="1"/>
          <p:nvPr/>
        </p:nvSpPr>
        <p:spPr>
          <a:xfrm>
            <a:off x="365760" y="6483096"/>
            <a:ext cx="3291840" cy="118872"/>
          </a:xfrm>
          <a:prstGeom prst="rect">
            <a:avLst/>
          </a:prstGeom>
          <a:noFill/>
          <a:ln/>
        </p:spPr>
        <p:txBody>
          <a:bodyPr wrap="square" lIns="0" tIns="0" rIns="0" bIns="0" rtlCol="0" anchor="t"/>
          <a:lstStyle/>
          <a:p>
            <a:pPr indent="0" marL="0">
              <a:lnSpc>
                <a:spcPct val="95000"/>
              </a:lnSpc>
              <a:buNone/>
            </a:pPr>
            <a:r>
              <a:rPr lang="en-US" sz="750" dirty="0">
                <a:solidFill>
                  <a:srgbClr val="5F6368"/>
                </a:solidFill>
                <a:latin typeface="Arial" pitchFamily="34" charset="0"/>
                <a:ea typeface="Arial" pitchFamily="34" charset="-122"/>
                <a:cs typeface="Arial" pitchFamily="34" charset="-120"/>
              </a:rPr>
              <a:t>500 reported → 488 coded; two coders, Cohen's κ 0.83–0.96.</a:t>
            </a:r>
            <a:endParaRPr lang="en-US" sz="750" dirty="0"/>
          </a:p>
        </p:txBody>
      </p:sp>
      <p:sp>
        <p:nvSpPr>
          <p:cNvPr id="50" name="Text 48"/>
          <p:cNvSpPr txBox="1"/>
          <p:nvPr/>
        </p:nvSpPr>
        <p:spPr>
          <a:xfrm>
            <a:off x="4005072" y="5477256"/>
            <a:ext cx="4754880" cy="146304"/>
          </a:xfrm>
          <a:prstGeom prst="rect">
            <a:avLst/>
          </a:prstGeom>
          <a:noFill/>
          <a:ln/>
        </p:spPr>
        <p:txBody>
          <a:bodyPr wrap="square" lIns="0" tIns="0" rIns="0" bIns="0" rtlCol="0" anchor="t"/>
          <a:lstStyle/>
          <a:p>
            <a:pPr indent="0" marL="0">
              <a:lnSpc>
                <a:spcPct val="95000"/>
              </a:lnSpc>
              <a:buNone/>
            </a:pPr>
            <a:r>
              <a:rPr lang="en-US" sz="800" spc="60" kern="0" dirty="0">
                <a:solidFill>
                  <a:srgbClr val="5F6368"/>
                </a:solidFill>
                <a:latin typeface="Consolas" pitchFamily="34" charset="0"/>
                <a:ea typeface="Consolas" pitchFamily="34" charset="-122"/>
                <a:cs typeface="Consolas" pitchFamily="34" charset="-120"/>
              </a:rPr>
              <a:t>EVIDENCE · TASK TYPE PER SESSION (χ² = 84.6, p &lt; .001)</a:t>
            </a:r>
            <a:endParaRPr lang="en-US" sz="800" dirty="0"/>
          </a:p>
        </p:txBody>
      </p:sp>
      <p:sp>
        <p:nvSpPr>
          <p:cNvPr id="51" name="legSw0"/>
          <p:cNvSpPr/>
          <p:nvPr/>
        </p:nvSpPr>
        <p:spPr>
          <a:xfrm>
            <a:off x="4041648" y="5646420"/>
            <a:ext cx="91440" cy="91440"/>
          </a:xfrm>
          <a:prstGeom prst="rect">
            <a:avLst/>
          </a:prstGeom>
          <a:solidFill>
            <a:srgbClr val="3730C4"/>
          </a:solidFill>
          <a:ln w="3175">
            <a:solidFill>
              <a:srgbClr val="3730C4"/>
            </a:solidFill>
            <a:prstDash val="solid"/>
          </a:ln>
        </p:spPr>
      </p:sp>
      <p:sp>
        <p:nvSpPr>
          <p:cNvPr id="52" name="Text 50"/>
          <p:cNvSpPr txBox="1"/>
          <p:nvPr/>
        </p:nvSpPr>
        <p:spPr>
          <a:xfrm>
            <a:off x="4178808" y="5614416"/>
            <a:ext cx="960120" cy="146304"/>
          </a:xfrm>
          <a:prstGeom prst="rect">
            <a:avLst/>
          </a:prstGeom>
          <a:noFill/>
          <a:ln/>
        </p:spPr>
        <p:txBody>
          <a:bodyPr wrap="square" lIns="0" tIns="0" rIns="0" bIns="0" rtlCol="0" anchor="ctr"/>
          <a:lstStyle/>
          <a:p>
            <a:pPr indent="0" marL="0">
              <a:lnSpc>
                <a:spcPct val="95000"/>
              </a:lnSpc>
              <a:buNone/>
            </a:pPr>
            <a:r>
              <a:rPr lang="en-US" sz="800" dirty="0">
                <a:solidFill>
                  <a:srgbClr val="5F6368"/>
                </a:solidFill>
                <a:latin typeface="Arial" pitchFamily="34" charset="0"/>
                <a:ea typeface="Arial" pitchFamily="34" charset="-122"/>
                <a:cs typeface="Arial" pitchFamily="34" charset="-120"/>
              </a:rPr>
              <a:t>Search engine</a:t>
            </a:r>
            <a:endParaRPr lang="en-US" sz="800" dirty="0"/>
          </a:p>
        </p:txBody>
      </p:sp>
      <p:sp>
        <p:nvSpPr>
          <p:cNvPr id="53" name="legSw1"/>
          <p:cNvSpPr/>
          <p:nvPr/>
        </p:nvSpPr>
        <p:spPr>
          <a:xfrm>
            <a:off x="5166360" y="5646420"/>
            <a:ext cx="91440" cy="91440"/>
          </a:xfrm>
          <a:prstGeom prst="rect">
            <a:avLst/>
          </a:prstGeom>
          <a:solidFill>
            <a:srgbClr val="B3261E"/>
          </a:solidFill>
          <a:ln w="3175">
            <a:solidFill>
              <a:srgbClr val="B3261E"/>
            </a:solidFill>
            <a:prstDash val="solid"/>
          </a:ln>
        </p:spPr>
      </p:sp>
      <p:sp>
        <p:nvSpPr>
          <p:cNvPr id="54" name="Text 52"/>
          <p:cNvSpPr txBox="1"/>
          <p:nvPr/>
        </p:nvSpPr>
        <p:spPr>
          <a:xfrm>
            <a:off x="5303520" y="5614416"/>
            <a:ext cx="960120" cy="146304"/>
          </a:xfrm>
          <a:prstGeom prst="rect">
            <a:avLst/>
          </a:prstGeom>
          <a:noFill/>
          <a:ln/>
        </p:spPr>
        <p:txBody>
          <a:bodyPr wrap="square" lIns="0" tIns="0" rIns="0" bIns="0" rtlCol="0" anchor="ctr"/>
          <a:lstStyle/>
          <a:p>
            <a:pPr indent="0" marL="0">
              <a:lnSpc>
                <a:spcPct val="95000"/>
              </a:lnSpc>
              <a:buNone/>
            </a:pPr>
            <a:r>
              <a:rPr lang="en-US" sz="800" dirty="0">
                <a:solidFill>
                  <a:srgbClr val="5F6368"/>
                </a:solidFill>
                <a:latin typeface="Arial" pitchFamily="34" charset="0"/>
                <a:ea typeface="Arial" pitchFamily="34" charset="-122"/>
                <a:cs typeface="Arial" pitchFamily="34" charset="-120"/>
              </a:rPr>
              <a:t>GenAI chatbot</a:t>
            </a:r>
            <a:endParaRPr lang="en-US" sz="800" dirty="0"/>
          </a:p>
        </p:txBody>
      </p:sp>
      <p:sp>
        <p:nvSpPr>
          <p:cNvPr id="55" name="bar00"/>
          <p:cNvSpPr/>
          <p:nvPr/>
        </p:nvSpPr>
        <p:spPr>
          <a:xfrm>
            <a:off x="4338828" y="5925312"/>
            <a:ext cx="274320" cy="493776"/>
          </a:xfrm>
          <a:prstGeom prst="rect">
            <a:avLst/>
          </a:prstGeom>
          <a:solidFill>
            <a:srgbClr val="3730C4"/>
          </a:solidFill>
          <a:ln w="3175">
            <a:solidFill>
              <a:srgbClr val="3730C4"/>
            </a:solidFill>
            <a:prstDash val="solid"/>
          </a:ln>
        </p:spPr>
      </p:sp>
      <p:sp>
        <p:nvSpPr>
          <p:cNvPr id="56" name="Text 54"/>
          <p:cNvSpPr txBox="1"/>
          <p:nvPr/>
        </p:nvSpPr>
        <p:spPr>
          <a:xfrm>
            <a:off x="4338828" y="5783580"/>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46.1%</a:t>
            </a:r>
            <a:endParaRPr lang="en-US" sz="750" dirty="0"/>
          </a:p>
        </p:txBody>
      </p:sp>
      <p:sp>
        <p:nvSpPr>
          <p:cNvPr id="57" name="bar01"/>
          <p:cNvSpPr/>
          <p:nvPr/>
        </p:nvSpPr>
        <p:spPr>
          <a:xfrm>
            <a:off x="4658868" y="6228433"/>
            <a:ext cx="274320" cy="190655"/>
          </a:xfrm>
          <a:prstGeom prst="rect">
            <a:avLst/>
          </a:prstGeom>
          <a:solidFill>
            <a:srgbClr val="B3261E"/>
          </a:solidFill>
          <a:ln w="3175">
            <a:solidFill>
              <a:srgbClr val="B3261E"/>
            </a:solidFill>
            <a:prstDash val="solid"/>
          </a:ln>
        </p:spPr>
      </p:sp>
      <p:sp>
        <p:nvSpPr>
          <p:cNvPr id="58" name="Text 56"/>
          <p:cNvSpPr txBox="1"/>
          <p:nvPr/>
        </p:nvSpPr>
        <p:spPr>
          <a:xfrm>
            <a:off x="4658868" y="6086701"/>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17.8%</a:t>
            </a:r>
            <a:endParaRPr lang="en-US" sz="750" dirty="0"/>
          </a:p>
        </p:txBody>
      </p:sp>
      <p:sp>
        <p:nvSpPr>
          <p:cNvPr id="59" name="Text 57"/>
          <p:cNvSpPr txBox="1"/>
          <p:nvPr/>
        </p:nvSpPr>
        <p:spPr>
          <a:xfrm>
            <a:off x="4041648" y="6446520"/>
            <a:ext cx="1188720" cy="128016"/>
          </a:xfrm>
          <a:prstGeom prst="rect">
            <a:avLst/>
          </a:prstGeom>
          <a:noFill/>
          <a:ln/>
        </p:spPr>
        <p:txBody>
          <a:bodyPr wrap="square" lIns="0" tIns="0" rIns="0" bIns="0" rtlCol="0" anchor="t"/>
          <a:lstStyle/>
          <a:p>
            <a:pPr algn="ctr" indent="0" marL="0">
              <a:lnSpc>
                <a:spcPct val="95000"/>
              </a:lnSpc>
              <a:buNone/>
            </a:pPr>
            <a:r>
              <a:rPr lang="en-US" sz="800" dirty="0">
                <a:solidFill>
                  <a:srgbClr val="16161A"/>
                </a:solidFill>
                <a:latin typeface="Arial" pitchFamily="34" charset="0"/>
                <a:ea typeface="Arial" pitchFamily="34" charset="-122"/>
                <a:cs typeface="Arial" pitchFamily="34" charset="-120"/>
              </a:rPr>
              <a:t>Lookup</a:t>
            </a:r>
            <a:endParaRPr lang="en-US" sz="800" dirty="0"/>
          </a:p>
        </p:txBody>
      </p:sp>
      <p:sp>
        <p:nvSpPr>
          <p:cNvPr id="60" name="bar10"/>
          <p:cNvSpPr/>
          <p:nvPr/>
        </p:nvSpPr>
        <p:spPr>
          <a:xfrm>
            <a:off x="5527548" y="6087048"/>
            <a:ext cx="274320" cy="332040"/>
          </a:xfrm>
          <a:prstGeom prst="rect">
            <a:avLst/>
          </a:prstGeom>
          <a:solidFill>
            <a:srgbClr val="3730C4"/>
          </a:solidFill>
          <a:ln w="3175">
            <a:solidFill>
              <a:srgbClr val="3730C4"/>
            </a:solidFill>
            <a:prstDash val="solid"/>
          </a:ln>
        </p:spPr>
      </p:sp>
      <p:sp>
        <p:nvSpPr>
          <p:cNvPr id="61" name="Text 59"/>
          <p:cNvSpPr txBox="1"/>
          <p:nvPr/>
        </p:nvSpPr>
        <p:spPr>
          <a:xfrm>
            <a:off x="5527548" y="5945316"/>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31.0%</a:t>
            </a:r>
            <a:endParaRPr lang="en-US" sz="750" dirty="0"/>
          </a:p>
        </p:txBody>
      </p:sp>
      <p:sp>
        <p:nvSpPr>
          <p:cNvPr id="62" name="bar11"/>
          <p:cNvSpPr/>
          <p:nvPr/>
        </p:nvSpPr>
        <p:spPr>
          <a:xfrm>
            <a:off x="5847588" y="6120252"/>
            <a:ext cx="274320" cy="298836"/>
          </a:xfrm>
          <a:prstGeom prst="rect">
            <a:avLst/>
          </a:prstGeom>
          <a:solidFill>
            <a:srgbClr val="B3261E"/>
          </a:solidFill>
          <a:ln w="3175">
            <a:solidFill>
              <a:srgbClr val="B3261E"/>
            </a:solidFill>
            <a:prstDash val="solid"/>
          </a:ln>
        </p:spPr>
      </p:sp>
      <p:sp>
        <p:nvSpPr>
          <p:cNvPr id="63" name="Text 61"/>
          <p:cNvSpPr txBox="1"/>
          <p:nvPr/>
        </p:nvSpPr>
        <p:spPr>
          <a:xfrm>
            <a:off x="5847588" y="5978520"/>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27.9%</a:t>
            </a:r>
            <a:endParaRPr lang="en-US" sz="750" dirty="0"/>
          </a:p>
        </p:txBody>
      </p:sp>
      <p:sp>
        <p:nvSpPr>
          <p:cNvPr id="64" name="Text 62"/>
          <p:cNvSpPr txBox="1"/>
          <p:nvPr/>
        </p:nvSpPr>
        <p:spPr>
          <a:xfrm>
            <a:off x="5230368" y="6446520"/>
            <a:ext cx="1188720" cy="128016"/>
          </a:xfrm>
          <a:prstGeom prst="rect">
            <a:avLst/>
          </a:prstGeom>
          <a:noFill/>
          <a:ln/>
        </p:spPr>
        <p:txBody>
          <a:bodyPr wrap="square" lIns="0" tIns="0" rIns="0" bIns="0" rtlCol="0" anchor="t"/>
          <a:lstStyle/>
          <a:p>
            <a:pPr algn="ctr" indent="0" marL="0">
              <a:lnSpc>
                <a:spcPct val="95000"/>
              </a:lnSpc>
              <a:buNone/>
            </a:pPr>
            <a:r>
              <a:rPr lang="en-US" sz="800" dirty="0">
                <a:solidFill>
                  <a:srgbClr val="16161A"/>
                </a:solidFill>
                <a:latin typeface="Arial" pitchFamily="34" charset="0"/>
                <a:ea typeface="Arial" pitchFamily="34" charset="-122"/>
                <a:cs typeface="Arial" pitchFamily="34" charset="-120"/>
              </a:rPr>
              <a:t>Exploratory</a:t>
            </a:r>
            <a:endParaRPr lang="en-US" sz="800" dirty="0"/>
          </a:p>
        </p:txBody>
      </p:sp>
      <p:sp>
        <p:nvSpPr>
          <p:cNvPr id="65" name="bar20"/>
          <p:cNvSpPr/>
          <p:nvPr/>
        </p:nvSpPr>
        <p:spPr>
          <a:xfrm>
            <a:off x="6716268" y="6174878"/>
            <a:ext cx="274320" cy="244210"/>
          </a:xfrm>
          <a:prstGeom prst="rect">
            <a:avLst/>
          </a:prstGeom>
          <a:solidFill>
            <a:srgbClr val="3730C4"/>
          </a:solidFill>
          <a:ln w="3175">
            <a:solidFill>
              <a:srgbClr val="3730C4"/>
            </a:solidFill>
            <a:prstDash val="solid"/>
          </a:ln>
        </p:spPr>
      </p:sp>
      <p:sp>
        <p:nvSpPr>
          <p:cNvPr id="66" name="Text 64"/>
          <p:cNvSpPr txBox="1"/>
          <p:nvPr/>
        </p:nvSpPr>
        <p:spPr>
          <a:xfrm>
            <a:off x="6716268" y="6033146"/>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22.8%</a:t>
            </a:r>
            <a:endParaRPr lang="en-US" sz="750" dirty="0"/>
          </a:p>
        </p:txBody>
      </p:sp>
      <p:sp>
        <p:nvSpPr>
          <p:cNvPr id="67" name="bar21"/>
          <p:cNvSpPr/>
          <p:nvPr/>
        </p:nvSpPr>
        <p:spPr>
          <a:xfrm>
            <a:off x="7036308" y="6051702"/>
            <a:ext cx="274320" cy="367386"/>
          </a:xfrm>
          <a:prstGeom prst="rect">
            <a:avLst/>
          </a:prstGeom>
          <a:solidFill>
            <a:srgbClr val="B3261E"/>
          </a:solidFill>
          <a:ln w="3175">
            <a:solidFill>
              <a:srgbClr val="B3261E"/>
            </a:solidFill>
            <a:prstDash val="solid"/>
          </a:ln>
        </p:spPr>
      </p:sp>
      <p:sp>
        <p:nvSpPr>
          <p:cNvPr id="68" name="Text 66"/>
          <p:cNvSpPr txBox="1"/>
          <p:nvPr/>
        </p:nvSpPr>
        <p:spPr>
          <a:xfrm>
            <a:off x="7036308" y="5909970"/>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34.3%</a:t>
            </a:r>
            <a:endParaRPr lang="en-US" sz="750" dirty="0"/>
          </a:p>
        </p:txBody>
      </p:sp>
      <p:sp>
        <p:nvSpPr>
          <p:cNvPr id="69" name="Text 67"/>
          <p:cNvSpPr txBox="1"/>
          <p:nvPr/>
        </p:nvSpPr>
        <p:spPr>
          <a:xfrm>
            <a:off x="6419088" y="6446520"/>
            <a:ext cx="1188720" cy="128016"/>
          </a:xfrm>
          <a:prstGeom prst="rect">
            <a:avLst/>
          </a:prstGeom>
          <a:noFill/>
          <a:ln/>
        </p:spPr>
        <p:txBody>
          <a:bodyPr wrap="square" lIns="0" tIns="0" rIns="0" bIns="0" rtlCol="0" anchor="t"/>
          <a:lstStyle/>
          <a:p>
            <a:pPr algn="ctr" indent="0" marL="0">
              <a:lnSpc>
                <a:spcPct val="95000"/>
              </a:lnSpc>
              <a:buNone/>
            </a:pPr>
            <a:r>
              <a:rPr lang="en-US" sz="800" dirty="0">
                <a:solidFill>
                  <a:srgbClr val="16161A"/>
                </a:solidFill>
                <a:latin typeface="Arial" pitchFamily="34" charset="0"/>
                <a:ea typeface="Arial" pitchFamily="34" charset="-122"/>
                <a:cs typeface="Arial" pitchFamily="34" charset="-120"/>
              </a:rPr>
              <a:t>Guidance</a:t>
            </a:r>
            <a:endParaRPr lang="en-US" sz="800" dirty="0"/>
          </a:p>
        </p:txBody>
      </p:sp>
      <p:sp>
        <p:nvSpPr>
          <p:cNvPr id="70" name="Text 68"/>
          <p:cNvSpPr txBox="1"/>
          <p:nvPr/>
        </p:nvSpPr>
        <p:spPr>
          <a:xfrm>
            <a:off x="7904988" y="6277356"/>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0.0%</a:t>
            </a:r>
            <a:endParaRPr lang="en-US" sz="750" dirty="0"/>
          </a:p>
        </p:txBody>
      </p:sp>
      <p:sp>
        <p:nvSpPr>
          <p:cNvPr id="71" name="bar31"/>
          <p:cNvSpPr/>
          <p:nvPr/>
        </p:nvSpPr>
        <p:spPr>
          <a:xfrm>
            <a:off x="8225028" y="6207011"/>
            <a:ext cx="274320" cy="212077"/>
          </a:xfrm>
          <a:prstGeom prst="rect">
            <a:avLst/>
          </a:prstGeom>
          <a:solidFill>
            <a:srgbClr val="B3261E"/>
          </a:solidFill>
          <a:ln w="3175">
            <a:solidFill>
              <a:srgbClr val="B3261E"/>
            </a:solidFill>
            <a:prstDash val="solid"/>
          </a:ln>
        </p:spPr>
      </p:sp>
      <p:sp>
        <p:nvSpPr>
          <p:cNvPr id="72" name="Text 70"/>
          <p:cNvSpPr txBox="1"/>
          <p:nvPr/>
        </p:nvSpPr>
        <p:spPr>
          <a:xfrm>
            <a:off x="8225028" y="6065279"/>
            <a:ext cx="274320" cy="137160"/>
          </a:xfrm>
          <a:prstGeom prst="rect">
            <a:avLst/>
          </a:prstGeom>
          <a:noFill/>
          <a:ln/>
        </p:spPr>
        <p:txBody>
          <a:bodyPr wrap="square" lIns="0" tIns="0" rIns="0" bIns="0" rtlCol="0" anchor="t"/>
          <a:lstStyle/>
          <a:p>
            <a:pPr algn="ctr" indent="0" marL="0">
              <a:lnSpc>
                <a:spcPct val="95000"/>
              </a:lnSpc>
              <a:buNone/>
            </a:pPr>
            <a:r>
              <a:rPr lang="en-US" sz="750" dirty="0">
                <a:solidFill>
                  <a:srgbClr val="5F6368"/>
                </a:solidFill>
                <a:latin typeface="Arial" pitchFamily="34" charset="0"/>
                <a:ea typeface="Arial" pitchFamily="34" charset="-122"/>
                <a:cs typeface="Arial" pitchFamily="34" charset="-120"/>
              </a:rPr>
              <a:t>19.8%</a:t>
            </a:r>
            <a:endParaRPr lang="en-US" sz="750" dirty="0"/>
          </a:p>
        </p:txBody>
      </p:sp>
      <p:sp>
        <p:nvSpPr>
          <p:cNvPr id="73" name="Text 71"/>
          <p:cNvSpPr txBox="1"/>
          <p:nvPr/>
        </p:nvSpPr>
        <p:spPr>
          <a:xfrm>
            <a:off x="7607808" y="6446520"/>
            <a:ext cx="1188720" cy="128016"/>
          </a:xfrm>
          <a:prstGeom prst="rect">
            <a:avLst/>
          </a:prstGeom>
          <a:noFill/>
          <a:ln/>
        </p:spPr>
        <p:txBody>
          <a:bodyPr wrap="square" lIns="0" tIns="0" rIns="0" bIns="0" rtlCol="0" anchor="t"/>
          <a:lstStyle/>
          <a:p>
            <a:pPr algn="ctr" indent="0" marL="0">
              <a:lnSpc>
                <a:spcPct val="95000"/>
              </a:lnSpc>
              <a:buNone/>
            </a:pPr>
            <a:r>
              <a:rPr lang="en-US" sz="800" dirty="0">
                <a:solidFill>
                  <a:srgbClr val="16161A"/>
                </a:solidFill>
                <a:latin typeface="Arial" pitchFamily="34" charset="0"/>
                <a:ea typeface="Arial" pitchFamily="34" charset="-122"/>
                <a:cs typeface="Arial" pitchFamily="34" charset="-120"/>
              </a:rPr>
              <a:t>Generative</a:t>
            </a:r>
            <a:endParaRPr lang="en-US" sz="800" dirty="0"/>
          </a:p>
        </p:txBody>
      </p:sp>
      <p:sp>
        <p:nvSpPr>
          <p:cNvPr id="74" name="hr7.02"/>
          <p:cNvSpPr/>
          <p:nvPr/>
        </p:nvSpPr>
        <p:spPr>
          <a:xfrm>
            <a:off x="4041648" y="6419088"/>
            <a:ext cx="4754880" cy="0"/>
          </a:xfrm>
          <a:prstGeom prst="line">
            <a:avLst/>
          </a:prstGeom>
          <a:noFill/>
          <a:ln w="9525">
            <a:solidFill>
              <a:srgbClr val="C9C9CE"/>
            </a:solidFill>
            <a:prstDash val="solid"/>
          </a:ln>
        </p:spPr>
      </p:sp>
      <p:sp>
        <p:nvSpPr>
          <p:cNvPr id="75" name="Text 73"/>
          <p:cNvSpPr txBox="1"/>
          <p:nvPr/>
        </p:nvSpPr>
        <p:spPr>
          <a:xfrm>
            <a:off x="9052560" y="5477256"/>
            <a:ext cx="2770632" cy="146304"/>
          </a:xfrm>
          <a:prstGeom prst="rect">
            <a:avLst/>
          </a:prstGeom>
          <a:noFill/>
          <a:ln/>
        </p:spPr>
        <p:txBody>
          <a:bodyPr wrap="square" lIns="0" tIns="0" rIns="0" bIns="0" rtlCol="0" anchor="t"/>
          <a:lstStyle/>
          <a:p>
            <a:pPr indent="0" marL="0">
              <a:lnSpc>
                <a:spcPct val="95000"/>
              </a:lnSpc>
              <a:buNone/>
            </a:pPr>
            <a:r>
              <a:rPr lang="en-US" sz="800" spc="60" kern="0" dirty="0">
                <a:solidFill>
                  <a:srgbClr val="5F6368"/>
                </a:solidFill>
                <a:latin typeface="Consolas" pitchFamily="34" charset="0"/>
                <a:ea typeface="Consolas" pitchFamily="34" charset="-122"/>
                <a:cs typeface="Consolas" pitchFamily="34" charset="-120"/>
              </a:rPr>
              <a:t>LIMITS · AND OUR QUESTION TO YOU</a:t>
            </a:r>
            <a:endParaRPr lang="en-US" sz="800" dirty="0"/>
          </a:p>
        </p:txBody>
      </p:sp>
      <p:sp>
        <p:nvSpPr>
          <p:cNvPr id="76" name="Text 74"/>
          <p:cNvSpPr txBox="1"/>
          <p:nvPr/>
        </p:nvSpPr>
        <p:spPr>
          <a:xfrm>
            <a:off x="9052560" y="5660136"/>
            <a:ext cx="2770632" cy="548640"/>
          </a:xfrm>
          <a:prstGeom prst="rect">
            <a:avLst/>
          </a:prstGeom>
          <a:noFill/>
          <a:ln/>
        </p:spPr>
        <p:txBody>
          <a:bodyPr wrap="square" lIns="0" tIns="0" rIns="0" bIns="0" rtlCol="0" anchor="t"/>
          <a:lstStyle/>
          <a:p>
            <a:pPr indent="0" marL="0">
              <a:lnSpc>
                <a:spcPct val="95000"/>
              </a:lnSpc>
              <a:buNone/>
            </a:pPr>
            <a:r>
              <a:rPr lang="en-US" sz="800" i="1" dirty="0">
                <a:solidFill>
                  <a:srgbClr val="5F6368"/>
                </a:solidFill>
                <a:latin typeface="Arial" pitchFamily="34" charset="0"/>
                <a:ea typeface="Arial" pitchFamily="34" charset="-122"/>
                <a:cs typeface="Arial" pitchFamily="34" charset="-120"/>
              </a:rPr>
              <a:t>84 digitally literate Prolific users, not the general population. Sessions are self-reported and taken one at a time, so strategies that span tools stay invisible. Captured February 2025, before AI Mode.</a:t>
            </a:r>
            <a:endParaRPr lang="en-US" sz="800" dirty="0"/>
          </a:p>
        </p:txBody>
      </p:sp>
      <p:sp>
        <p:nvSpPr>
          <p:cNvPr id="77" name="Text 75"/>
          <p:cNvSpPr txBox="1"/>
          <p:nvPr/>
        </p:nvSpPr>
        <p:spPr>
          <a:xfrm>
            <a:off x="9052560" y="6254496"/>
            <a:ext cx="2770632" cy="256032"/>
          </a:xfrm>
          <a:prstGeom prst="rect">
            <a:avLst/>
          </a:prstGeom>
          <a:noFill/>
          <a:ln/>
        </p:spPr>
        <p:txBody>
          <a:bodyPr wrap="square" lIns="0" tIns="0" rIns="0" bIns="0" rtlCol="0" anchor="t"/>
          <a:lstStyle/>
          <a:p>
            <a:pPr indent="0" marL="0">
              <a:lnSpc>
                <a:spcPct val="95000"/>
              </a:lnSpc>
              <a:buNone/>
            </a:pPr>
            <a:r>
              <a:rPr lang="en-US" sz="850" b="1" dirty="0">
                <a:solidFill>
                  <a:srgbClr val="B3261E"/>
                </a:solidFill>
                <a:latin typeface="Arial" pitchFamily="34" charset="0"/>
                <a:ea typeface="Arial" pitchFamily="34" charset="-122"/>
                <a:cs typeface="Arial" pitchFamily="34" charset="-120"/>
              </a:rPr>
              <a:t>Does the gap close once chatbots cite their sources, or do people simply stop clicking?</a:t>
            </a:r>
            <a:endParaRPr lang="en-US" sz="850" dirty="0"/>
          </a:p>
        </p:txBody>
      </p:sp>
    </p:spTree>
  </p:cSld>
  <p:clrMapOvr>
    <a:masterClrMapping/>
  </p:clrMapOvr>
</p:sld>
</file>

<file path=ppt/theme/theme1.xml><?xml version="1.0" encoding="utf-8"?>
<a:theme xmlns:a="http://schemas.openxmlformats.org/drawingml/2006/main" name="SERP and transcript">
  <a:themeElements>
    <a:clrScheme name="SERP and transcript">
      <a:dk1>
        <a:srgbClr val="16161A"/>
      </a:dk1>
      <a:lt1>
        <a:srgbClr val="FFFFFF"/>
      </a:lt1>
      <a:dk2>
        <a:srgbClr val="2B2B33"/>
      </a:dk2>
      <a:lt2>
        <a:srgbClr val="F1F1F3"/>
      </a:lt2>
      <a:accent1>
        <a:srgbClr val="3730C4"/>
      </a:accent1>
      <a:accent2>
        <a:srgbClr val="B3261E"/>
      </a:accent2>
      <a:accent3>
        <a:srgbClr val="1A0DAB"/>
      </a:accent3>
      <a:accent4>
        <a:srgbClr val="0F6B2E"/>
      </a:accent4>
      <a:accent5>
        <a:srgbClr val="5F6368"/>
      </a:accent5>
      <a:accent6>
        <a:srgbClr val="B3261E"/>
      </a:accent6>
      <a:hlink>
        <a:srgbClr val="1A0DAB"/>
      </a:hlink>
      <a:folHlink>
        <a:srgbClr val="6B4E8C"/>
      </a:folHlink>
    </a:clrScheme>
    <a:fontScheme name="SERP and transcript">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Browse and Verify vs Delegate and Consume</dc:title>
  <dc:subject>PptxGenJS Presentation</dc:subject>
  <dc:creator>Information Retrieval poster</dc:creator>
  <cp:lastModifiedBy>Information Retrieval poster</cp:lastModifiedBy>
  <cp:revision>1</cp:revision>
  <dcterms:created xsi:type="dcterms:W3CDTF">2026-10-12T15:17:50Z</dcterms:created>
  <dcterms:modified xsi:type="dcterms:W3CDTF">2026-10-12T15:17:50Z</dcterms:modified>
</cp:coreProperties>
</file>