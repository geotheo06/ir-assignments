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be97d7ac-8ce5-670c-b497-3724670ec553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Search engine</c:v>
                </c:pt>
              </c:strCache>
            </c:strRef>
          </c:tx>
          <c:spPr>
            <a:solidFill>
              <a:srgbClr val="0B6EA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5B667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Lookup</c:v>
                  </c:pt>
                  <c:pt idx="1">
                    <c:v>Exploratory</c:v>
                  </c:pt>
                  <c:pt idx="2">
                    <c:v>Guidance</c:v>
                  </c:pt>
                  <c:pt idx="3">
                    <c:v>Generative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46.1</c:v>
                </c:pt>
                <c:pt idx="1">
                  <c:v>31</c:v>
                </c:pt>
                <c:pt idx="2">
                  <c:v>22.8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GenAI chatbot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5B667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Lookup</c:v>
                  </c:pt>
                  <c:pt idx="1">
                    <c:v>Exploratory</c:v>
                  </c:pt>
                  <c:pt idx="2">
                    <c:v>Guidance</c:v>
                  </c:pt>
                  <c:pt idx="3">
                    <c:v>Generative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17.8</c:v>
                </c:pt>
                <c:pt idx="1">
                  <c:v>27.9</c:v>
                </c:pt>
                <c:pt idx="2">
                  <c:v>34.3</c:v>
                </c:pt>
                <c:pt idx="3">
                  <c:v>19.8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5B667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EE4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520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B66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Search engine</c:v>
                </c:pt>
              </c:strCache>
            </c:strRef>
          </c:tx>
          <c:spPr>
            <a:solidFill>
              <a:srgbClr val="0B6EA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5B667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Acted on it</c:v>
                  </c:pt>
                  <c:pt idx="1">
                    <c:v>No action</c:v>
                  </c:pt>
                  <c:pt idx="2">
                    <c:v>Searched again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43.6</c:v>
                </c:pt>
                <c:pt idx="1">
                  <c:v>29.5</c:v>
                </c:pt>
                <c:pt idx="2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GenAI chatbot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5B667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Acted on it</c:v>
                  </c:pt>
                  <c:pt idx="1">
                    <c:v>No action</c:v>
                  </c:pt>
                  <c:pt idx="2">
                    <c:v>Searched again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44.5</c:v>
                </c:pt>
                <c:pt idx="1">
                  <c:v>19</c:v>
                </c:pt>
                <c:pt idx="2">
                  <c:v>7.7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5B667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EE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520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B66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4-minute walkthrough. 1) The gap: search engines and chatbots now answer the same questions and vendors are merging them, but we evaluate systems, not users. 2) Method: 84 US participants on Prolific, February 2025; each opened their own history and reflected on their last three search and three chatbot sessions; 488 sessions survived quality control and two coders labelled topic, trigger, task and outcome. 3) Stated preferences split cleanly: Browse and Verify for search (accuracy, source variety, habit) versus Delegate and Consume for chatbots (synthesised answers, efficiency, personalisation). 4) Behaviour: search is lookup, 46 percent; chatbots take guidance, 34 percent, and own all generative work. 5) The punchline: search behaviour matches the stated philosophy, chatbot behaviour does not. People bring chatbots health and relationship questions and act on the answer 66 percent of the time. 6) Implication: benchmark the tools separately, and evaluate chatbots in the high-stakes domains where they are actually used, scoring source attribution and confidence rather than fluency. Close on the limits and the open question about citing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0212E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4048" y="73152"/>
            <a:ext cx="8458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title</a:t>
            </a:r>
            <a:endParaRPr lang="en-US" sz="21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384048" y="644652"/>
            <a:ext cx="8458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and venue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9006840" y="109728"/>
            <a:ext cx="2834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lnSpc>
                <a:spcPct val="110000"/>
              </a:lnSpc>
              <a:buNone/>
              <a:defRPr lang="en-US" sz="950" dirty="0">
                <a:solidFill>
                  <a:srgbClr val="DC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Presenters</a:t>
            </a:r>
            <a:endParaRPr lang="en-US" sz="950" dirty="0"/>
          </a:p>
        </p:txBody>
      </p:sp>
      <p:sp>
        <p:nvSpPr>
          <p:cNvPr id="6" name="sourceLine"/>
          <p:cNvSpPr txBox="1"/>
          <p:nvPr/>
        </p:nvSpPr>
        <p:spPr>
          <a:xfrm>
            <a:off x="365760" y="6556248"/>
            <a:ext cx="114601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summarises Lichtenegger, Urman &amp; Hannák (2026), SIGIR '26, 1094–1105, CC BY 4.0. All figures redrawn by us from the values reported in the paper.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4048" y="73152"/>
            <a:ext cx="8458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Comparative Study of Users' Information-Seeking Practices Across Search Engines and Generative AI Chatbots</a:t>
            </a:r>
            <a:endParaRPr lang="en-US" sz="21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384048" y="644652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Elsa Lichtenegger · Aleksandra Urman · Anikó Hannák — University of Zurich   |   SIGIR '26, Melbourne · pp. 1094–1105 · doi.org/10.1145/3805712.3809525</a:t>
            </a:r>
            <a:endParaRPr lang="en-US" sz="1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9006840" y="10972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by [Your name] &amp; [Partner name]</a:t>
            </a:r>
            <a:endParaRPr lang="en-US" sz="95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[Course] · [University] · 13 October 2026</a:t>
            </a:r>
            <a:endParaRPr lang="en-US" sz="950" dirty="0"/>
          </a:p>
        </p:txBody>
      </p:sp>
      <p:sp>
        <p:nvSpPr>
          <p:cNvPr id="5" name="num1"/>
          <p:cNvSpPr txBox="1"/>
          <p:nvPr/>
        </p:nvSpPr>
        <p:spPr>
          <a:xfrm>
            <a:off x="365760" y="1152144"/>
            <a:ext cx="201168" cy="201168"/>
          </a:xfrm>
          <a:prstGeom prst="ellipse">
            <a:avLst/>
          </a:prstGeom>
          <a:solidFill>
            <a:srgbClr val="1021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6" name="head1"/>
          <p:cNvSpPr txBox="1"/>
          <p:nvPr/>
        </p:nvSpPr>
        <p:spPr>
          <a:xfrm>
            <a:off x="640080" y="1129284"/>
            <a:ext cx="33628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gap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453896"/>
            <a:ext cx="3637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Search engines and GenAI chatbots now answer the same questions, and vendors are fusing them — AI Overviews inside search, retrieval inside chatbots. Prior work evaluates the systems; it rarely asks whether users still treat them as different tools.</a:t>
            </a:r>
            <a:endParaRPr lang="en-US" sz="1150" dirty="0"/>
          </a:p>
        </p:txBody>
      </p:sp>
      <p:sp>
        <p:nvSpPr>
          <p:cNvPr id="8" name="rqCard"/>
          <p:cNvSpPr/>
          <p:nvPr/>
        </p:nvSpPr>
        <p:spPr>
          <a:xfrm>
            <a:off x="365760" y="2368296"/>
            <a:ext cx="3637178" cy="868680"/>
          </a:xfrm>
          <a:prstGeom prst="roundRect">
            <a:avLst>
              <a:gd name="adj" fmla="val 5263"/>
            </a:avLst>
          </a:prstGeom>
          <a:solidFill>
            <a:srgbClr val="F1F4F7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rqText"/>
          <p:cNvSpPr txBox="1"/>
          <p:nvPr/>
        </p:nvSpPr>
        <p:spPr>
          <a:xfrm>
            <a:off x="493776" y="2459736"/>
            <a:ext cx="33811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0212E"/>
                </a:solidFill>
              </a:rPr>
              <a:t>RQ1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How do users choose between the two tools?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0212E"/>
                </a:solidFill>
              </a:rPr>
              <a:t>RQ2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How do sessions and task contexts differ?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0212E"/>
                </a:solidFill>
              </a:rPr>
              <a:t>RQ3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Do stated preferences match actual use?</a:t>
            </a:r>
            <a:endParaRPr lang="en-US" sz="1100" dirty="0"/>
          </a:p>
        </p:txBody>
      </p:sp>
      <p:sp>
        <p:nvSpPr>
          <p:cNvPr id="10" name="num2"/>
          <p:cNvSpPr txBox="1"/>
          <p:nvPr/>
        </p:nvSpPr>
        <p:spPr>
          <a:xfrm>
            <a:off x="365760" y="3346704"/>
            <a:ext cx="201168" cy="201168"/>
          </a:xfrm>
          <a:prstGeom prst="ellipse">
            <a:avLst/>
          </a:prstGeom>
          <a:solidFill>
            <a:srgbClr val="1021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1" name="head2"/>
          <p:cNvSpPr txBox="1"/>
          <p:nvPr/>
        </p:nvSpPr>
        <p:spPr>
          <a:xfrm>
            <a:off x="640080" y="3323844"/>
            <a:ext cx="33628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studied</a:t>
            </a:r>
            <a:endParaRPr lang="en-US" sz="1450" dirty="0"/>
          </a:p>
        </p:txBody>
      </p:sp>
      <p:sp>
        <p:nvSpPr>
          <p:cNvPr id="12" name="dot0"/>
          <p:cNvSpPr/>
          <p:nvPr/>
        </p:nvSpPr>
        <p:spPr>
          <a:xfrm>
            <a:off x="393192" y="3698748"/>
            <a:ext cx="105156" cy="105156"/>
          </a:xfrm>
          <a:prstGeom prst="ellipse">
            <a:avLst/>
          </a:prstGeom>
          <a:solidFill>
            <a:srgbClr val="10212E"/>
          </a:solidFill>
          <a:ln w="6350">
            <a:solidFill>
              <a:srgbClr val="10212E"/>
            </a:solidFill>
            <a:prstDash val="solid"/>
          </a:ln>
        </p:spPr>
      </p:sp>
      <p:sp>
        <p:nvSpPr>
          <p:cNvPr id="13" name="conn0"/>
          <p:cNvSpPr/>
          <p:nvPr/>
        </p:nvSpPr>
        <p:spPr>
          <a:xfrm>
            <a:off x="445770" y="3813048"/>
            <a:ext cx="0" cy="173736"/>
          </a:xfrm>
          <a:prstGeom prst="line">
            <a:avLst/>
          </a:prstGeom>
          <a:noFill/>
          <a:ln w="15875">
            <a:solidFill>
              <a:srgbClr val="D7DE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648456"/>
            <a:ext cx="338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84 US adults on Prolific, surveyed February 2025</a:t>
            </a:r>
            <a:endParaRPr lang="en-US" sz="1050" dirty="0"/>
          </a:p>
        </p:txBody>
      </p:sp>
      <p:sp>
        <p:nvSpPr>
          <p:cNvPr id="15" name="dot1"/>
          <p:cNvSpPr/>
          <p:nvPr/>
        </p:nvSpPr>
        <p:spPr>
          <a:xfrm>
            <a:off x="393192" y="3936492"/>
            <a:ext cx="105156" cy="105156"/>
          </a:xfrm>
          <a:prstGeom prst="ellipse">
            <a:avLst/>
          </a:prstGeom>
          <a:solidFill>
            <a:srgbClr val="10212E"/>
          </a:solidFill>
          <a:ln w="6350">
            <a:solidFill>
              <a:srgbClr val="10212E"/>
            </a:solidFill>
            <a:prstDash val="solid"/>
          </a:ln>
        </p:spPr>
      </p:sp>
      <p:sp>
        <p:nvSpPr>
          <p:cNvPr id="16" name="conn1"/>
          <p:cNvSpPr/>
          <p:nvPr/>
        </p:nvSpPr>
        <p:spPr>
          <a:xfrm>
            <a:off x="445770" y="4050792"/>
            <a:ext cx="0" cy="301752"/>
          </a:xfrm>
          <a:prstGeom prst="line">
            <a:avLst/>
          </a:prstGeom>
          <a:noFill/>
          <a:ln w="1587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886200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Each opened their own history: last 3 search + last 3 chatbot sessions</a:t>
            </a:r>
            <a:endParaRPr lang="en-US" sz="1050" dirty="0"/>
          </a:p>
        </p:txBody>
      </p:sp>
      <p:sp>
        <p:nvSpPr>
          <p:cNvPr id="18" name="dot2"/>
          <p:cNvSpPr/>
          <p:nvPr/>
        </p:nvSpPr>
        <p:spPr>
          <a:xfrm>
            <a:off x="393192" y="4302252"/>
            <a:ext cx="105156" cy="105156"/>
          </a:xfrm>
          <a:prstGeom prst="ellipse">
            <a:avLst/>
          </a:prstGeom>
          <a:solidFill>
            <a:srgbClr val="10212E"/>
          </a:solidFill>
          <a:ln w="6350">
            <a:solidFill>
              <a:srgbClr val="10212E"/>
            </a:solidFill>
            <a:prstDash val="solid"/>
          </a:ln>
        </p:spPr>
      </p:sp>
      <p:sp>
        <p:nvSpPr>
          <p:cNvPr id="19" name="conn2"/>
          <p:cNvSpPr/>
          <p:nvPr/>
        </p:nvSpPr>
        <p:spPr>
          <a:xfrm>
            <a:off x="445770" y="4416552"/>
            <a:ext cx="0" cy="429768"/>
          </a:xfrm>
          <a:prstGeom prst="line">
            <a:avLst/>
          </a:prstGeom>
          <a:noFill/>
          <a:ln w="15875">
            <a:solidFill>
              <a:srgbClr val="D7DE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4251960"/>
            <a:ext cx="338114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Per session they reported the goal, what triggered it, the steps taken, what they did next, and why this tool</a:t>
            </a:r>
            <a:endParaRPr lang="en-US" sz="1050" dirty="0"/>
          </a:p>
        </p:txBody>
      </p:sp>
      <p:sp>
        <p:nvSpPr>
          <p:cNvPr id="21" name="dot3"/>
          <p:cNvSpPr/>
          <p:nvPr/>
        </p:nvSpPr>
        <p:spPr>
          <a:xfrm>
            <a:off x="393192" y="4796028"/>
            <a:ext cx="105156" cy="105156"/>
          </a:xfrm>
          <a:prstGeom prst="ellipse">
            <a:avLst/>
          </a:prstGeom>
          <a:solidFill>
            <a:srgbClr val="10212E"/>
          </a:solidFill>
          <a:ln w="6350">
            <a:solidFill>
              <a:srgbClr val="10212E"/>
            </a:solidFill>
            <a:prstDash val="solid"/>
          </a:ln>
        </p:spPr>
      </p:sp>
      <p:sp>
        <p:nvSpPr>
          <p:cNvPr id="22" name="conn3"/>
          <p:cNvSpPr/>
          <p:nvPr/>
        </p:nvSpPr>
        <p:spPr>
          <a:xfrm>
            <a:off x="445770" y="4910328"/>
            <a:ext cx="0" cy="301752"/>
          </a:xfrm>
          <a:prstGeom prst="line">
            <a:avLst/>
          </a:prstGeom>
          <a:noFill/>
          <a:ln w="15875">
            <a:solidFill>
              <a:srgbClr val="D7DEE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4745736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500 sessions reported → 241 search + 247 chatbot kept after quality control</a:t>
            </a:r>
            <a:endParaRPr lang="en-US" sz="1050" dirty="0"/>
          </a:p>
        </p:txBody>
      </p:sp>
      <p:sp>
        <p:nvSpPr>
          <p:cNvPr id="24" name="dot4"/>
          <p:cNvSpPr/>
          <p:nvPr/>
        </p:nvSpPr>
        <p:spPr>
          <a:xfrm>
            <a:off x="393192" y="5161788"/>
            <a:ext cx="105156" cy="105156"/>
          </a:xfrm>
          <a:prstGeom prst="ellipse">
            <a:avLst/>
          </a:prstGeom>
          <a:solidFill>
            <a:srgbClr val="10212E"/>
          </a:solidFill>
          <a:ln w="6350">
            <a:solidFill>
              <a:srgbClr val="1021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5111496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Two coders labelled topic, trigger, task and outcome (Cohen's κ 0.83–0.96)</a:t>
            </a:r>
            <a:endParaRPr lang="en-US" sz="1050" dirty="0"/>
          </a:p>
        </p:txBody>
      </p:sp>
      <p:sp>
        <p:nvSpPr>
          <p:cNvPr id="26" name="chip0"/>
          <p:cNvSpPr/>
          <p:nvPr/>
        </p:nvSpPr>
        <p:spPr>
          <a:xfrm>
            <a:off x="365760" y="5605272"/>
            <a:ext cx="1754581" cy="420624"/>
          </a:xfrm>
          <a:prstGeom prst="roundRect">
            <a:avLst>
              <a:gd name="adj" fmla="val 10870"/>
            </a:avLst>
          </a:prstGeom>
          <a:solidFill>
            <a:srgbClr val="F1F4F7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27" name="chipTxt0"/>
          <p:cNvSpPr txBox="1"/>
          <p:nvPr/>
        </p:nvSpPr>
        <p:spPr>
          <a:xfrm>
            <a:off x="457200" y="5650992"/>
            <a:ext cx="15717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0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1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B6670"/>
                </a:solidFill>
              </a:rPr>
              <a:t>participants</a:t>
            </a:r>
            <a:endParaRPr lang="en-US" sz="1300" dirty="0"/>
          </a:p>
        </p:txBody>
      </p:sp>
      <p:sp>
        <p:nvSpPr>
          <p:cNvPr id="28" name="chip1"/>
          <p:cNvSpPr/>
          <p:nvPr/>
        </p:nvSpPr>
        <p:spPr>
          <a:xfrm>
            <a:off x="2248357" y="5605272"/>
            <a:ext cx="1754581" cy="420624"/>
          </a:xfrm>
          <a:prstGeom prst="roundRect">
            <a:avLst>
              <a:gd name="adj" fmla="val 10870"/>
            </a:avLst>
          </a:prstGeom>
          <a:solidFill>
            <a:srgbClr val="F1F4F7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29" name="chipTxt1"/>
          <p:cNvSpPr txBox="1"/>
          <p:nvPr/>
        </p:nvSpPr>
        <p:spPr>
          <a:xfrm>
            <a:off x="2339797" y="5650992"/>
            <a:ext cx="15717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0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488</a:t>
            </a:r>
            <a:endParaRPr lang="en-US" sz="1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B6670"/>
                </a:solidFill>
              </a:rPr>
              <a:t>sessions coded</a:t>
            </a:r>
            <a:endParaRPr lang="en-US" sz="1300" dirty="0"/>
          </a:p>
        </p:txBody>
      </p:sp>
      <p:sp>
        <p:nvSpPr>
          <p:cNvPr id="30" name="chip2"/>
          <p:cNvSpPr/>
          <p:nvPr/>
        </p:nvSpPr>
        <p:spPr>
          <a:xfrm>
            <a:off x="365760" y="6108192"/>
            <a:ext cx="1754581" cy="420624"/>
          </a:xfrm>
          <a:prstGeom prst="roundRect">
            <a:avLst>
              <a:gd name="adj" fmla="val 10870"/>
            </a:avLst>
          </a:prstGeom>
          <a:solidFill>
            <a:srgbClr val="F1F4F7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31" name="chipTxt2"/>
          <p:cNvSpPr txBox="1"/>
          <p:nvPr/>
        </p:nvSpPr>
        <p:spPr>
          <a:xfrm>
            <a:off x="457200" y="6153912"/>
            <a:ext cx="15717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0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0.83–0.96</a:t>
            </a:r>
            <a:endParaRPr lang="en-US" sz="1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B6670"/>
                </a:solidFill>
              </a:rPr>
              <a:t>inter-coder</a:t>
            </a:r>
            <a:endParaRPr lang="en-US" sz="1300" dirty="0"/>
          </a:p>
        </p:txBody>
      </p:sp>
      <p:sp>
        <p:nvSpPr>
          <p:cNvPr id="32" name="chip3"/>
          <p:cNvSpPr/>
          <p:nvPr/>
        </p:nvSpPr>
        <p:spPr>
          <a:xfrm>
            <a:off x="2248357" y="6108192"/>
            <a:ext cx="1754581" cy="420624"/>
          </a:xfrm>
          <a:prstGeom prst="roundRect">
            <a:avLst>
              <a:gd name="adj" fmla="val 10870"/>
            </a:avLst>
          </a:prstGeom>
          <a:solidFill>
            <a:srgbClr val="F1F4F7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33" name="chipTxt3"/>
          <p:cNvSpPr txBox="1"/>
          <p:nvPr/>
        </p:nvSpPr>
        <p:spPr>
          <a:xfrm>
            <a:off x="2339797" y="6153912"/>
            <a:ext cx="15717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0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 2025</a:t>
            </a:r>
            <a:endParaRPr lang="en-US" sz="1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B6670"/>
                </a:solidFill>
              </a:rPr>
              <a:t>pre AI-Mode snapshot</a:t>
            </a:r>
            <a:endParaRPr lang="en-US" sz="1300" dirty="0"/>
          </a:p>
        </p:txBody>
      </p:sp>
      <p:sp>
        <p:nvSpPr>
          <p:cNvPr id="34" name="num3"/>
          <p:cNvSpPr txBox="1"/>
          <p:nvPr/>
        </p:nvSpPr>
        <p:spPr>
          <a:xfrm>
            <a:off x="4277258" y="1152144"/>
            <a:ext cx="201168" cy="201168"/>
          </a:xfrm>
          <a:prstGeom prst="ellipse">
            <a:avLst/>
          </a:prstGeom>
          <a:solidFill>
            <a:srgbClr val="1021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35" name="head3"/>
          <p:cNvSpPr txBox="1"/>
          <p:nvPr/>
        </p:nvSpPr>
        <p:spPr>
          <a:xfrm>
            <a:off x="4551578" y="1129284"/>
            <a:ext cx="33628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philosophies, not one habit</a:t>
            </a:r>
            <a:endParaRPr lang="en-US" sz="1450" dirty="0"/>
          </a:p>
        </p:txBody>
      </p:sp>
      <p:sp>
        <p:nvSpPr>
          <p:cNvPr id="36" name="philSE"/>
          <p:cNvSpPr/>
          <p:nvPr/>
        </p:nvSpPr>
        <p:spPr>
          <a:xfrm>
            <a:off x="4277258" y="1453896"/>
            <a:ext cx="1745437" cy="2395728"/>
          </a:xfrm>
          <a:prstGeom prst="roundRect">
            <a:avLst>
              <a:gd name="adj" fmla="val 2619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37" name="philHeadSE"/>
          <p:cNvSpPr/>
          <p:nvPr/>
        </p:nvSpPr>
        <p:spPr>
          <a:xfrm>
            <a:off x="4277258" y="1453896"/>
            <a:ext cx="1745437" cy="585216"/>
          </a:xfrm>
          <a:prstGeom prst="roundRect">
            <a:avLst>
              <a:gd name="adj" fmla="val 7813"/>
            </a:avLst>
          </a:prstGeom>
          <a:solidFill>
            <a:srgbClr val="0B6EA8"/>
          </a:solidFill>
          <a:ln w="9525">
            <a:solidFill>
              <a:srgbClr val="0B6EA8"/>
            </a:solidFill>
            <a:prstDash val="solid"/>
          </a:ln>
        </p:spPr>
      </p:sp>
      <p:sp>
        <p:nvSpPr>
          <p:cNvPr id="38" name="philTitleSE"/>
          <p:cNvSpPr txBox="1"/>
          <p:nvPr/>
        </p:nvSpPr>
        <p:spPr>
          <a:xfrm>
            <a:off x="4368698" y="1499616"/>
            <a:ext cx="15625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b="1" spc="120" kern="0" dirty="0">
                <a:solidFill>
                  <a:srgbClr val="FFFFFF"/>
                </a:solidFill>
              </a:rPr>
              <a:t>SEARCH ENGINES</a:t>
            </a:r>
            <a:endParaRPr lang="en-US" sz="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&amp; Verify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4386986" y="2103120"/>
            <a:ext cx="15259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5B6670"/>
                </a:solidFill>
              </a:rPr>
              <a:t>Keep control: compare sources, check the claim</a:t>
            </a:r>
            <a:endParaRPr lang="en-US" sz="1000" dirty="0"/>
          </a:p>
        </p:txBody>
      </p:sp>
      <p:sp>
        <p:nvSpPr>
          <p:cNvPr id="40" name="rlSE0"/>
          <p:cNvSpPr txBox="1"/>
          <p:nvPr/>
        </p:nvSpPr>
        <p:spPr>
          <a:xfrm>
            <a:off x="4386986" y="2432304"/>
            <a:ext cx="11236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Relevance / accuracy</a:t>
            </a:r>
            <a:endParaRPr lang="en-US" sz="950" dirty="0"/>
          </a:p>
        </p:txBody>
      </p:sp>
      <p:sp>
        <p:nvSpPr>
          <p:cNvPr id="41" name="rpSE0"/>
          <p:cNvSpPr txBox="1"/>
          <p:nvPr/>
        </p:nvSpPr>
        <p:spPr>
          <a:xfrm>
            <a:off x="5492344" y="243230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EA8"/>
                </a:solidFill>
              </a:rPr>
              <a:t>15.8%</a:t>
            </a:r>
            <a:endParaRPr lang="en-US" sz="950" dirty="0"/>
          </a:p>
        </p:txBody>
      </p:sp>
      <p:sp>
        <p:nvSpPr>
          <p:cNvPr id="42" name="rtSE0"/>
          <p:cNvSpPr/>
          <p:nvPr/>
        </p:nvSpPr>
        <p:spPr>
          <a:xfrm>
            <a:off x="4386986" y="2601468"/>
            <a:ext cx="1525981" cy="50292"/>
          </a:xfrm>
          <a:prstGeom prst="rect">
            <a:avLst/>
          </a:prstGeom>
          <a:solidFill>
            <a:srgbClr val="ECF0F3"/>
          </a:solidFill>
          <a:ln w="3175">
            <a:solidFill>
              <a:srgbClr val="ECF0F3"/>
            </a:solidFill>
            <a:prstDash val="solid"/>
          </a:ln>
        </p:spPr>
      </p:sp>
      <p:sp>
        <p:nvSpPr>
          <p:cNvPr id="43" name="rbSE0"/>
          <p:cNvSpPr/>
          <p:nvPr/>
        </p:nvSpPr>
        <p:spPr>
          <a:xfrm>
            <a:off x="4386986" y="2601468"/>
            <a:ext cx="964420" cy="50292"/>
          </a:xfrm>
          <a:prstGeom prst="rect">
            <a:avLst/>
          </a:prstGeom>
          <a:solidFill>
            <a:srgbClr val="0B6EA8"/>
          </a:solidFill>
          <a:ln w="3175">
            <a:solidFill>
              <a:srgbClr val="0B6EA8"/>
            </a:solidFill>
            <a:prstDash val="solid"/>
          </a:ln>
        </p:spPr>
      </p:sp>
      <p:sp>
        <p:nvSpPr>
          <p:cNvPr id="44" name="rlSE1"/>
          <p:cNvSpPr txBox="1"/>
          <p:nvPr/>
        </p:nvSpPr>
        <p:spPr>
          <a:xfrm>
            <a:off x="4386986" y="2715768"/>
            <a:ext cx="11236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Functionality*</a:t>
            </a:r>
            <a:endParaRPr lang="en-US" sz="950" dirty="0"/>
          </a:p>
        </p:txBody>
      </p:sp>
      <p:sp>
        <p:nvSpPr>
          <p:cNvPr id="45" name="rpSE1"/>
          <p:cNvSpPr txBox="1"/>
          <p:nvPr/>
        </p:nvSpPr>
        <p:spPr>
          <a:xfrm>
            <a:off x="5492344" y="2715768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EA8"/>
                </a:solidFill>
              </a:rPr>
              <a:t>13.3%</a:t>
            </a:r>
            <a:endParaRPr lang="en-US" sz="950" dirty="0"/>
          </a:p>
        </p:txBody>
      </p:sp>
      <p:sp>
        <p:nvSpPr>
          <p:cNvPr id="46" name="rtSE1"/>
          <p:cNvSpPr/>
          <p:nvPr/>
        </p:nvSpPr>
        <p:spPr>
          <a:xfrm>
            <a:off x="4386986" y="2884932"/>
            <a:ext cx="1525981" cy="50292"/>
          </a:xfrm>
          <a:prstGeom prst="rect">
            <a:avLst/>
          </a:prstGeom>
          <a:solidFill>
            <a:srgbClr val="ECF0F3"/>
          </a:solidFill>
          <a:ln w="3175">
            <a:solidFill>
              <a:srgbClr val="ECF0F3"/>
            </a:solidFill>
            <a:prstDash val="solid"/>
          </a:ln>
        </p:spPr>
      </p:sp>
      <p:sp>
        <p:nvSpPr>
          <p:cNvPr id="47" name="rbSE1"/>
          <p:cNvSpPr/>
          <p:nvPr/>
        </p:nvSpPr>
        <p:spPr>
          <a:xfrm>
            <a:off x="4386986" y="2884932"/>
            <a:ext cx="811822" cy="50292"/>
          </a:xfrm>
          <a:prstGeom prst="rect">
            <a:avLst/>
          </a:prstGeom>
          <a:solidFill>
            <a:srgbClr val="0B6EA8"/>
          </a:solidFill>
          <a:ln w="3175">
            <a:solidFill>
              <a:srgbClr val="0B6EA8"/>
            </a:solidFill>
            <a:prstDash val="solid"/>
          </a:ln>
        </p:spPr>
      </p:sp>
      <p:sp>
        <p:nvSpPr>
          <p:cNvPr id="48" name="rlSE2"/>
          <p:cNvSpPr txBox="1"/>
          <p:nvPr/>
        </p:nvSpPr>
        <p:spPr>
          <a:xfrm>
            <a:off x="4386986" y="2999232"/>
            <a:ext cx="11236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Familiarity / habit</a:t>
            </a:r>
            <a:endParaRPr lang="en-US" sz="950" dirty="0"/>
          </a:p>
        </p:txBody>
      </p:sp>
      <p:sp>
        <p:nvSpPr>
          <p:cNvPr id="49" name="rpSE2"/>
          <p:cNvSpPr txBox="1"/>
          <p:nvPr/>
        </p:nvSpPr>
        <p:spPr>
          <a:xfrm>
            <a:off x="5492344" y="299923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EA8"/>
                </a:solidFill>
              </a:rPr>
              <a:t>13.3%</a:t>
            </a:r>
            <a:endParaRPr lang="en-US" sz="950" dirty="0"/>
          </a:p>
        </p:txBody>
      </p:sp>
      <p:sp>
        <p:nvSpPr>
          <p:cNvPr id="50" name="rtSE2"/>
          <p:cNvSpPr/>
          <p:nvPr/>
        </p:nvSpPr>
        <p:spPr>
          <a:xfrm>
            <a:off x="4386986" y="3168396"/>
            <a:ext cx="1525981" cy="50292"/>
          </a:xfrm>
          <a:prstGeom prst="rect">
            <a:avLst/>
          </a:prstGeom>
          <a:solidFill>
            <a:srgbClr val="ECF0F3"/>
          </a:solidFill>
          <a:ln w="3175">
            <a:solidFill>
              <a:srgbClr val="ECF0F3"/>
            </a:solidFill>
            <a:prstDash val="solid"/>
          </a:ln>
        </p:spPr>
      </p:sp>
      <p:sp>
        <p:nvSpPr>
          <p:cNvPr id="51" name="rbSE2"/>
          <p:cNvSpPr/>
          <p:nvPr/>
        </p:nvSpPr>
        <p:spPr>
          <a:xfrm>
            <a:off x="4386986" y="3168396"/>
            <a:ext cx="811822" cy="50292"/>
          </a:xfrm>
          <a:prstGeom prst="rect">
            <a:avLst/>
          </a:prstGeom>
          <a:solidFill>
            <a:srgbClr val="0B6EA8"/>
          </a:solidFill>
          <a:ln w="3175">
            <a:solidFill>
              <a:srgbClr val="0B6EA8"/>
            </a:solidFill>
            <a:prstDash val="solid"/>
          </a:ln>
        </p:spPr>
      </p:sp>
      <p:sp>
        <p:nvSpPr>
          <p:cNvPr id="52" name="rlSE3"/>
          <p:cNvSpPr txBox="1"/>
          <p:nvPr/>
        </p:nvSpPr>
        <p:spPr>
          <a:xfrm>
            <a:off x="4386986" y="3282696"/>
            <a:ext cx="11236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Reach a known site</a:t>
            </a:r>
            <a:endParaRPr lang="en-US" sz="950" dirty="0"/>
          </a:p>
        </p:txBody>
      </p:sp>
      <p:sp>
        <p:nvSpPr>
          <p:cNvPr id="53" name="rpSE3"/>
          <p:cNvSpPr txBox="1"/>
          <p:nvPr/>
        </p:nvSpPr>
        <p:spPr>
          <a:xfrm>
            <a:off x="5492344" y="3282696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EA8"/>
                </a:solidFill>
              </a:rPr>
              <a:t>10.8%</a:t>
            </a:r>
            <a:endParaRPr lang="en-US" sz="950" dirty="0"/>
          </a:p>
        </p:txBody>
      </p:sp>
      <p:sp>
        <p:nvSpPr>
          <p:cNvPr id="54" name="rtSE3"/>
          <p:cNvSpPr/>
          <p:nvPr/>
        </p:nvSpPr>
        <p:spPr>
          <a:xfrm>
            <a:off x="4386986" y="3451860"/>
            <a:ext cx="1525981" cy="50292"/>
          </a:xfrm>
          <a:prstGeom prst="rect">
            <a:avLst/>
          </a:prstGeom>
          <a:solidFill>
            <a:srgbClr val="ECF0F3"/>
          </a:solidFill>
          <a:ln w="3175">
            <a:solidFill>
              <a:srgbClr val="ECF0F3"/>
            </a:solidFill>
            <a:prstDash val="solid"/>
          </a:ln>
        </p:spPr>
      </p:sp>
      <p:sp>
        <p:nvSpPr>
          <p:cNvPr id="55" name="rbSE3"/>
          <p:cNvSpPr/>
          <p:nvPr/>
        </p:nvSpPr>
        <p:spPr>
          <a:xfrm>
            <a:off x="4386986" y="3451860"/>
            <a:ext cx="659224" cy="50292"/>
          </a:xfrm>
          <a:prstGeom prst="rect">
            <a:avLst/>
          </a:prstGeom>
          <a:solidFill>
            <a:srgbClr val="0B6EA8"/>
          </a:solidFill>
          <a:ln w="3175">
            <a:solidFill>
              <a:srgbClr val="0B6EA8"/>
            </a:solidFill>
            <a:prstDash val="solid"/>
          </a:ln>
        </p:spPr>
      </p:sp>
      <p:sp>
        <p:nvSpPr>
          <p:cNvPr id="56" name="rlSE4"/>
          <p:cNvSpPr txBox="1"/>
          <p:nvPr/>
        </p:nvSpPr>
        <p:spPr>
          <a:xfrm>
            <a:off x="4386986" y="3566160"/>
            <a:ext cx="11236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Source variety</a:t>
            </a:r>
            <a:endParaRPr lang="en-US" sz="950" dirty="0"/>
          </a:p>
        </p:txBody>
      </p:sp>
      <p:sp>
        <p:nvSpPr>
          <p:cNvPr id="57" name="rpSE4"/>
          <p:cNvSpPr txBox="1"/>
          <p:nvPr/>
        </p:nvSpPr>
        <p:spPr>
          <a:xfrm>
            <a:off x="5492344" y="3566160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EA8"/>
                </a:solidFill>
              </a:rPr>
              <a:t>9.5%</a:t>
            </a:r>
            <a:endParaRPr lang="en-US" sz="950" dirty="0"/>
          </a:p>
        </p:txBody>
      </p:sp>
      <p:sp>
        <p:nvSpPr>
          <p:cNvPr id="58" name="rtSE4"/>
          <p:cNvSpPr/>
          <p:nvPr/>
        </p:nvSpPr>
        <p:spPr>
          <a:xfrm>
            <a:off x="4386986" y="3735324"/>
            <a:ext cx="1525981" cy="50292"/>
          </a:xfrm>
          <a:prstGeom prst="rect">
            <a:avLst/>
          </a:prstGeom>
          <a:solidFill>
            <a:srgbClr val="ECF0F3"/>
          </a:solidFill>
          <a:ln w="3175">
            <a:solidFill>
              <a:srgbClr val="ECF0F3"/>
            </a:solidFill>
            <a:prstDash val="solid"/>
          </a:ln>
        </p:spPr>
      </p:sp>
      <p:sp>
        <p:nvSpPr>
          <p:cNvPr id="59" name="rbSE4"/>
          <p:cNvSpPr/>
          <p:nvPr/>
        </p:nvSpPr>
        <p:spPr>
          <a:xfrm>
            <a:off x="4386986" y="3735324"/>
            <a:ext cx="579873" cy="50292"/>
          </a:xfrm>
          <a:prstGeom prst="rect">
            <a:avLst/>
          </a:prstGeom>
          <a:solidFill>
            <a:srgbClr val="0B6EA8"/>
          </a:solidFill>
          <a:ln w="3175">
            <a:solidFill>
              <a:srgbClr val="0B6EA8"/>
            </a:solidFill>
            <a:prstDash val="solid"/>
          </a:ln>
        </p:spPr>
      </p:sp>
      <p:sp>
        <p:nvSpPr>
          <p:cNvPr id="60" name="philAI"/>
          <p:cNvSpPr/>
          <p:nvPr/>
        </p:nvSpPr>
        <p:spPr>
          <a:xfrm>
            <a:off x="6169000" y="1453896"/>
            <a:ext cx="1745437" cy="2395728"/>
          </a:xfrm>
          <a:prstGeom prst="roundRect">
            <a:avLst>
              <a:gd name="adj" fmla="val 2619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61" name="philHeadAI"/>
          <p:cNvSpPr/>
          <p:nvPr/>
        </p:nvSpPr>
        <p:spPr>
          <a:xfrm>
            <a:off x="6169000" y="1453896"/>
            <a:ext cx="1745437" cy="585216"/>
          </a:xfrm>
          <a:prstGeom prst="roundRect">
            <a:avLst>
              <a:gd name="adj" fmla="val 7813"/>
            </a:avLst>
          </a:prstGeom>
          <a:solidFill>
            <a:srgbClr val="C2410C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62" name="philTitleAI"/>
          <p:cNvSpPr txBox="1"/>
          <p:nvPr/>
        </p:nvSpPr>
        <p:spPr>
          <a:xfrm>
            <a:off x="6260440" y="1499616"/>
            <a:ext cx="15625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b="1" spc="120" kern="0" dirty="0">
                <a:solidFill>
                  <a:srgbClr val="FFFFFF"/>
                </a:solidFill>
              </a:rPr>
              <a:t>GENAI CHATBOTS</a:t>
            </a:r>
            <a:endParaRPr lang="en-US" sz="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Delegate &amp; Consume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6278728" y="2103120"/>
            <a:ext cx="15259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5B6670"/>
                </a:solidFill>
              </a:rPr>
              <a:t>Hand over the work: one synthesised, tailored answer</a:t>
            </a:r>
            <a:endParaRPr lang="en-US" sz="1000" dirty="0"/>
          </a:p>
        </p:txBody>
      </p:sp>
      <p:sp>
        <p:nvSpPr>
          <p:cNvPr id="64" name="rlAI0"/>
          <p:cNvSpPr txBox="1"/>
          <p:nvPr/>
        </p:nvSpPr>
        <p:spPr>
          <a:xfrm>
            <a:off x="6278728" y="2432304"/>
            <a:ext cx="11236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Synthesised answer</a:t>
            </a:r>
            <a:endParaRPr lang="en-US" sz="950" dirty="0"/>
          </a:p>
        </p:txBody>
      </p:sp>
      <p:sp>
        <p:nvSpPr>
          <p:cNvPr id="65" name="rpAI0"/>
          <p:cNvSpPr txBox="1"/>
          <p:nvPr/>
        </p:nvSpPr>
        <p:spPr>
          <a:xfrm>
            <a:off x="7384085" y="243230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410C"/>
                </a:solidFill>
              </a:rPr>
              <a:t>22.3%</a:t>
            </a:r>
            <a:endParaRPr lang="en-US" sz="950" dirty="0"/>
          </a:p>
        </p:txBody>
      </p:sp>
      <p:sp>
        <p:nvSpPr>
          <p:cNvPr id="66" name="rtAI0"/>
          <p:cNvSpPr/>
          <p:nvPr/>
        </p:nvSpPr>
        <p:spPr>
          <a:xfrm>
            <a:off x="6278728" y="2601468"/>
            <a:ext cx="1525981" cy="50292"/>
          </a:xfrm>
          <a:prstGeom prst="rect">
            <a:avLst/>
          </a:prstGeom>
          <a:solidFill>
            <a:srgbClr val="ECF0F3"/>
          </a:solidFill>
          <a:ln w="3175">
            <a:solidFill>
              <a:srgbClr val="ECF0F3"/>
            </a:solidFill>
            <a:prstDash val="solid"/>
          </a:ln>
        </p:spPr>
      </p:sp>
      <p:sp>
        <p:nvSpPr>
          <p:cNvPr id="67" name="rbAI0"/>
          <p:cNvSpPr/>
          <p:nvPr/>
        </p:nvSpPr>
        <p:spPr>
          <a:xfrm>
            <a:off x="6278728" y="2601468"/>
            <a:ext cx="1361175" cy="50292"/>
          </a:xfrm>
          <a:prstGeom prst="rect">
            <a:avLst/>
          </a:prstGeom>
          <a:solidFill>
            <a:srgbClr val="C2410C"/>
          </a:solidFill>
          <a:ln w="3175">
            <a:solidFill>
              <a:srgbClr val="C2410C"/>
            </a:solidFill>
            <a:prstDash val="solid"/>
          </a:ln>
        </p:spPr>
      </p:sp>
      <p:sp>
        <p:nvSpPr>
          <p:cNvPr id="68" name="rlAI1"/>
          <p:cNvSpPr txBox="1"/>
          <p:nvPr/>
        </p:nvSpPr>
        <p:spPr>
          <a:xfrm>
            <a:off x="6278728" y="2715768"/>
            <a:ext cx="11236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Efficiency</a:t>
            </a:r>
            <a:endParaRPr lang="en-US" sz="950" dirty="0"/>
          </a:p>
        </p:txBody>
      </p:sp>
      <p:sp>
        <p:nvSpPr>
          <p:cNvPr id="69" name="rpAI1"/>
          <p:cNvSpPr txBox="1"/>
          <p:nvPr/>
        </p:nvSpPr>
        <p:spPr>
          <a:xfrm>
            <a:off x="7384085" y="2715768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410C"/>
                </a:solidFill>
              </a:rPr>
              <a:t>19.4%</a:t>
            </a:r>
            <a:endParaRPr lang="en-US" sz="950" dirty="0"/>
          </a:p>
        </p:txBody>
      </p:sp>
      <p:sp>
        <p:nvSpPr>
          <p:cNvPr id="70" name="rtAI1"/>
          <p:cNvSpPr/>
          <p:nvPr/>
        </p:nvSpPr>
        <p:spPr>
          <a:xfrm>
            <a:off x="6278728" y="2884932"/>
            <a:ext cx="1525981" cy="50292"/>
          </a:xfrm>
          <a:prstGeom prst="rect">
            <a:avLst/>
          </a:prstGeom>
          <a:solidFill>
            <a:srgbClr val="ECF0F3"/>
          </a:solidFill>
          <a:ln w="3175">
            <a:solidFill>
              <a:srgbClr val="ECF0F3"/>
            </a:solidFill>
            <a:prstDash val="solid"/>
          </a:ln>
        </p:spPr>
      </p:sp>
      <p:sp>
        <p:nvSpPr>
          <p:cNvPr id="71" name="rbAI1"/>
          <p:cNvSpPr/>
          <p:nvPr/>
        </p:nvSpPr>
        <p:spPr>
          <a:xfrm>
            <a:off x="6278728" y="2884932"/>
            <a:ext cx="1184161" cy="50292"/>
          </a:xfrm>
          <a:prstGeom prst="rect">
            <a:avLst/>
          </a:prstGeom>
          <a:solidFill>
            <a:srgbClr val="C2410C"/>
          </a:solidFill>
          <a:ln w="3175">
            <a:solidFill>
              <a:srgbClr val="C2410C"/>
            </a:solidFill>
            <a:prstDash val="solid"/>
          </a:ln>
        </p:spPr>
      </p:sp>
      <p:sp>
        <p:nvSpPr>
          <p:cNvPr id="72" name="rlAI2"/>
          <p:cNvSpPr txBox="1"/>
          <p:nvPr/>
        </p:nvSpPr>
        <p:spPr>
          <a:xfrm>
            <a:off x="6278728" y="2999232"/>
            <a:ext cx="11236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Functionality*</a:t>
            </a:r>
            <a:endParaRPr lang="en-US" sz="950" dirty="0"/>
          </a:p>
        </p:txBody>
      </p:sp>
      <p:sp>
        <p:nvSpPr>
          <p:cNvPr id="73" name="rpAI2"/>
          <p:cNvSpPr txBox="1"/>
          <p:nvPr/>
        </p:nvSpPr>
        <p:spPr>
          <a:xfrm>
            <a:off x="7384085" y="299923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410C"/>
                </a:solidFill>
              </a:rPr>
              <a:t>19.4%</a:t>
            </a:r>
            <a:endParaRPr lang="en-US" sz="950" dirty="0"/>
          </a:p>
        </p:txBody>
      </p:sp>
      <p:sp>
        <p:nvSpPr>
          <p:cNvPr id="74" name="rtAI2"/>
          <p:cNvSpPr/>
          <p:nvPr/>
        </p:nvSpPr>
        <p:spPr>
          <a:xfrm>
            <a:off x="6278728" y="3168396"/>
            <a:ext cx="1525981" cy="50292"/>
          </a:xfrm>
          <a:prstGeom prst="rect">
            <a:avLst/>
          </a:prstGeom>
          <a:solidFill>
            <a:srgbClr val="ECF0F3"/>
          </a:solidFill>
          <a:ln w="3175">
            <a:solidFill>
              <a:srgbClr val="ECF0F3"/>
            </a:solidFill>
            <a:prstDash val="solid"/>
          </a:ln>
        </p:spPr>
      </p:sp>
      <p:sp>
        <p:nvSpPr>
          <p:cNvPr id="75" name="rbAI2"/>
          <p:cNvSpPr/>
          <p:nvPr/>
        </p:nvSpPr>
        <p:spPr>
          <a:xfrm>
            <a:off x="6278728" y="3168396"/>
            <a:ext cx="1184161" cy="50292"/>
          </a:xfrm>
          <a:prstGeom prst="rect">
            <a:avLst/>
          </a:prstGeom>
          <a:solidFill>
            <a:srgbClr val="C2410C"/>
          </a:solidFill>
          <a:ln w="3175">
            <a:solidFill>
              <a:srgbClr val="C2410C"/>
            </a:solidFill>
            <a:prstDash val="solid"/>
          </a:ln>
        </p:spPr>
      </p:sp>
      <p:sp>
        <p:nvSpPr>
          <p:cNvPr id="76" name="rlAI3"/>
          <p:cNvSpPr txBox="1"/>
          <p:nvPr/>
        </p:nvSpPr>
        <p:spPr>
          <a:xfrm>
            <a:off x="6278728" y="3282696"/>
            <a:ext cx="11236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Personalisation</a:t>
            </a:r>
            <a:endParaRPr lang="en-US" sz="950" dirty="0"/>
          </a:p>
        </p:txBody>
      </p:sp>
      <p:sp>
        <p:nvSpPr>
          <p:cNvPr id="77" name="rpAI3"/>
          <p:cNvSpPr txBox="1"/>
          <p:nvPr/>
        </p:nvSpPr>
        <p:spPr>
          <a:xfrm>
            <a:off x="7384085" y="3282696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410C"/>
                </a:solidFill>
              </a:rPr>
              <a:t>17.0%</a:t>
            </a:r>
            <a:endParaRPr lang="en-US" sz="950" dirty="0"/>
          </a:p>
        </p:txBody>
      </p:sp>
      <p:sp>
        <p:nvSpPr>
          <p:cNvPr id="78" name="rtAI3"/>
          <p:cNvSpPr/>
          <p:nvPr/>
        </p:nvSpPr>
        <p:spPr>
          <a:xfrm>
            <a:off x="6278728" y="3451860"/>
            <a:ext cx="1525981" cy="50292"/>
          </a:xfrm>
          <a:prstGeom prst="rect">
            <a:avLst/>
          </a:prstGeom>
          <a:solidFill>
            <a:srgbClr val="ECF0F3"/>
          </a:solidFill>
          <a:ln w="3175">
            <a:solidFill>
              <a:srgbClr val="ECF0F3"/>
            </a:solidFill>
            <a:prstDash val="solid"/>
          </a:ln>
        </p:spPr>
      </p:sp>
      <p:sp>
        <p:nvSpPr>
          <p:cNvPr id="79" name="rbAI3"/>
          <p:cNvSpPr/>
          <p:nvPr/>
        </p:nvSpPr>
        <p:spPr>
          <a:xfrm>
            <a:off x="6278728" y="3451860"/>
            <a:ext cx="1037667" cy="50292"/>
          </a:xfrm>
          <a:prstGeom prst="rect">
            <a:avLst/>
          </a:prstGeom>
          <a:solidFill>
            <a:srgbClr val="C2410C"/>
          </a:solidFill>
          <a:ln w="3175">
            <a:solidFill>
              <a:srgbClr val="C2410C"/>
            </a:solidFill>
            <a:prstDash val="solid"/>
          </a:ln>
        </p:spPr>
      </p:sp>
      <p:sp>
        <p:nvSpPr>
          <p:cNvPr id="80" name="rlAI4"/>
          <p:cNvSpPr txBox="1"/>
          <p:nvPr/>
        </p:nvSpPr>
        <p:spPr>
          <a:xfrm>
            <a:off x="6278728" y="3566160"/>
            <a:ext cx="11236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Conversational</a:t>
            </a:r>
            <a:endParaRPr lang="en-US" sz="950" dirty="0"/>
          </a:p>
        </p:txBody>
      </p:sp>
      <p:sp>
        <p:nvSpPr>
          <p:cNvPr id="81" name="rpAI4"/>
          <p:cNvSpPr txBox="1"/>
          <p:nvPr/>
        </p:nvSpPr>
        <p:spPr>
          <a:xfrm>
            <a:off x="7384085" y="3566160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410C"/>
                </a:solidFill>
              </a:rPr>
              <a:t>8.1%</a:t>
            </a:r>
            <a:endParaRPr lang="en-US" sz="950" dirty="0"/>
          </a:p>
        </p:txBody>
      </p:sp>
      <p:sp>
        <p:nvSpPr>
          <p:cNvPr id="82" name="rtAI4"/>
          <p:cNvSpPr/>
          <p:nvPr/>
        </p:nvSpPr>
        <p:spPr>
          <a:xfrm>
            <a:off x="6278728" y="3735324"/>
            <a:ext cx="1525981" cy="50292"/>
          </a:xfrm>
          <a:prstGeom prst="rect">
            <a:avLst/>
          </a:prstGeom>
          <a:solidFill>
            <a:srgbClr val="ECF0F3"/>
          </a:solidFill>
          <a:ln w="3175">
            <a:solidFill>
              <a:srgbClr val="ECF0F3"/>
            </a:solidFill>
            <a:prstDash val="solid"/>
          </a:ln>
        </p:spPr>
      </p:sp>
      <p:sp>
        <p:nvSpPr>
          <p:cNvPr id="83" name="rbAI4"/>
          <p:cNvSpPr/>
          <p:nvPr/>
        </p:nvSpPr>
        <p:spPr>
          <a:xfrm>
            <a:off x="6278728" y="3735324"/>
            <a:ext cx="494418" cy="50292"/>
          </a:xfrm>
          <a:prstGeom prst="rect">
            <a:avLst/>
          </a:prstGeom>
          <a:solidFill>
            <a:srgbClr val="C2410C"/>
          </a:solidFill>
          <a:ln w="3175">
            <a:solidFill>
              <a:srgbClr val="C2410C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277258" y="3913632"/>
            <a:ext cx="36371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670"/>
                </a:solidFill>
              </a:rPr>
              <a:t>Share of sessions giving each reason (241 search / 247 chatbot sessions, several reasons allowed); bars share one 0–25% scale. *Functionality means opposite things: media, shopping and navigation for search, generating content for chatbots. Habit drives search (13.3%), almost never chatbots (0.8%).</a:t>
            </a:r>
            <a:endParaRPr lang="en-US" sz="800" dirty="0"/>
          </a:p>
        </p:txBody>
      </p:sp>
      <p:sp>
        <p:nvSpPr>
          <p:cNvPr id="85" name="num4"/>
          <p:cNvSpPr txBox="1"/>
          <p:nvPr/>
        </p:nvSpPr>
        <p:spPr>
          <a:xfrm>
            <a:off x="4277258" y="4535424"/>
            <a:ext cx="201168" cy="201168"/>
          </a:xfrm>
          <a:prstGeom prst="ellipse">
            <a:avLst/>
          </a:prstGeom>
          <a:solidFill>
            <a:srgbClr val="1021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86" name="head4"/>
          <p:cNvSpPr txBox="1"/>
          <p:nvPr/>
        </p:nvSpPr>
        <p:spPr>
          <a:xfrm>
            <a:off x="4551578" y="4512564"/>
            <a:ext cx="33628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actually did</a:t>
            </a:r>
            <a:endParaRPr lang="en-US" sz="1450" dirty="0"/>
          </a:p>
        </p:txBody>
      </p:sp>
      <p:graphicFrame>
        <p:nvGraphicFramePr>
          <p:cNvPr id="87" name="taskChart" descr=""/>
          <p:cNvGraphicFramePr/>
          <p:nvPr/>
        </p:nvGraphicFramePr>
        <p:xfrm>
          <a:off x="4222394" y="4837176"/>
          <a:ext cx="3746906" cy="1207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8" name="Text 85"/>
          <p:cNvSpPr txBox="1"/>
          <p:nvPr/>
        </p:nvSpPr>
        <p:spPr>
          <a:xfrm>
            <a:off x="4277258" y="6071616"/>
            <a:ext cx="3637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5B6670"/>
                </a:solidFill>
              </a:rPr>
              <a:t>Task type per session (χ² = 84.6, p &lt; .001). Lookup is the search engine's job; chatbots take over guidance — and all generative work.</a:t>
            </a:r>
            <a:endParaRPr lang="en-US" sz="850" dirty="0"/>
          </a:p>
        </p:txBody>
      </p:sp>
      <p:sp>
        <p:nvSpPr>
          <p:cNvPr id="89" name="num5"/>
          <p:cNvSpPr txBox="1"/>
          <p:nvPr/>
        </p:nvSpPr>
        <p:spPr>
          <a:xfrm>
            <a:off x="8188757" y="1152144"/>
            <a:ext cx="201168" cy="201168"/>
          </a:xfrm>
          <a:prstGeom prst="ellipse">
            <a:avLst/>
          </a:prstGeom>
          <a:solidFill>
            <a:srgbClr val="1021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90" name="head5"/>
          <p:cNvSpPr txBox="1"/>
          <p:nvPr/>
        </p:nvSpPr>
        <p:spPr>
          <a:xfrm>
            <a:off x="8463077" y="1129284"/>
            <a:ext cx="33628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words and behaviour part</a:t>
            </a:r>
            <a:endParaRPr lang="en-US" sz="1450" dirty="0"/>
          </a:p>
        </p:txBody>
      </p:sp>
      <p:sp>
        <p:nvSpPr>
          <p:cNvPr id="91" name="verdictMATCHES"/>
          <p:cNvSpPr/>
          <p:nvPr/>
        </p:nvSpPr>
        <p:spPr>
          <a:xfrm>
            <a:off x="8188757" y="1453896"/>
            <a:ext cx="3637178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2" name="chipShapeMATCHES"/>
          <p:cNvSpPr/>
          <p:nvPr/>
        </p:nvSpPr>
        <p:spPr>
          <a:xfrm>
            <a:off x="8298485" y="1545336"/>
            <a:ext cx="731520" cy="192024"/>
          </a:xfrm>
          <a:prstGeom prst="roundRect">
            <a:avLst>
              <a:gd name="adj" fmla="val 47619"/>
            </a:avLst>
          </a:prstGeom>
          <a:solidFill>
            <a:srgbClr val="0B6EA8"/>
          </a:solidFill>
          <a:ln w="6350">
            <a:solidFill>
              <a:srgbClr val="0B6EA8"/>
            </a:solidFill>
            <a:prstDash val="solid"/>
          </a:ln>
        </p:spPr>
      </p:sp>
      <p:sp>
        <p:nvSpPr>
          <p:cNvPr id="93" name="chipLblMATCHES"/>
          <p:cNvSpPr txBox="1"/>
          <p:nvPr/>
        </p:nvSpPr>
        <p:spPr>
          <a:xfrm>
            <a:off x="8298485" y="1545336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MATCHES</a:t>
            </a:r>
            <a:endParaRPr lang="en-US" sz="800" dirty="0"/>
          </a:p>
        </p:txBody>
      </p:sp>
      <p:sp>
        <p:nvSpPr>
          <p:cNvPr id="94" name="vTitleMATCHES"/>
          <p:cNvSpPr txBox="1"/>
          <p:nvPr/>
        </p:nvSpPr>
        <p:spPr>
          <a:xfrm>
            <a:off x="9084869" y="1540764"/>
            <a:ext cx="26313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A8"/>
                </a:solidFill>
              </a:rPr>
              <a:t>Search: Browse &amp; Verify holds</a:t>
            </a:r>
            <a:endParaRPr lang="en-US" sz="1100" dirty="0"/>
          </a:p>
        </p:txBody>
      </p:sp>
      <p:sp>
        <p:nvSpPr>
          <p:cNvPr id="95" name="Text 92"/>
          <p:cNvSpPr txBox="1"/>
          <p:nvPr/>
        </p:nvSpPr>
        <p:spPr>
          <a:xfrm>
            <a:off x="8298485" y="1792224"/>
            <a:ext cx="341772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46% of sessions are lookup, skewed to shopping, finance and bureaucracy; 30% end with no further action at all.</a:t>
            </a:r>
            <a:endParaRPr lang="en-US" sz="1050" dirty="0"/>
          </a:p>
        </p:txBody>
      </p:sp>
      <p:sp>
        <p:nvSpPr>
          <p:cNvPr id="96" name="verdictDIVERGES"/>
          <p:cNvSpPr/>
          <p:nvPr/>
        </p:nvSpPr>
        <p:spPr>
          <a:xfrm>
            <a:off x="8188757" y="2240280"/>
            <a:ext cx="3637178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7" name="chipShapeDIVERGES"/>
          <p:cNvSpPr/>
          <p:nvPr/>
        </p:nvSpPr>
        <p:spPr>
          <a:xfrm>
            <a:off x="8298485" y="2331720"/>
            <a:ext cx="731520" cy="192024"/>
          </a:xfrm>
          <a:prstGeom prst="roundRect">
            <a:avLst>
              <a:gd name="adj" fmla="val 47619"/>
            </a:avLst>
          </a:prstGeom>
          <a:solidFill>
            <a:srgbClr val="9F1239"/>
          </a:solidFill>
          <a:ln w="6350">
            <a:solidFill>
              <a:srgbClr val="9F1239"/>
            </a:solidFill>
            <a:prstDash val="solid"/>
          </a:ln>
        </p:spPr>
      </p:sp>
      <p:sp>
        <p:nvSpPr>
          <p:cNvPr id="98" name="chipLblDIVERGES"/>
          <p:cNvSpPr txBox="1"/>
          <p:nvPr/>
        </p:nvSpPr>
        <p:spPr>
          <a:xfrm>
            <a:off x="8298485" y="2331720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DIVERGES</a:t>
            </a:r>
            <a:endParaRPr lang="en-US" sz="800" dirty="0"/>
          </a:p>
        </p:txBody>
      </p:sp>
      <p:sp>
        <p:nvSpPr>
          <p:cNvPr id="99" name="vTitleDIVERGES"/>
          <p:cNvSpPr txBox="1"/>
          <p:nvPr/>
        </p:nvSpPr>
        <p:spPr>
          <a:xfrm>
            <a:off x="9084869" y="2327148"/>
            <a:ext cx="26313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Chatbots: delegation goes further</a:t>
            </a:r>
            <a:endParaRPr lang="en-US" sz="1100" dirty="0"/>
          </a:p>
        </p:txBody>
      </p:sp>
      <p:sp>
        <p:nvSpPr>
          <p:cNvPr id="100" name="Text 97"/>
          <p:cNvSpPr txBox="1"/>
          <p:nvPr/>
        </p:nvSpPr>
        <p:spPr>
          <a:xfrm>
            <a:off x="8298485" y="2578608"/>
            <a:ext cx="341772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Top topics are self &amp; social skills (15.8%, residual +5.7) and health (10.9%). Guidance dominates, and 66% of guidance sessions end in real-world action.</a:t>
            </a:r>
            <a:endParaRPr lang="en-US" sz="1050" dirty="0"/>
          </a:p>
        </p:txBody>
      </p:sp>
      <p:sp>
        <p:nvSpPr>
          <p:cNvPr id="101" name="punch"/>
          <p:cNvSpPr/>
          <p:nvPr/>
        </p:nvSpPr>
        <p:spPr>
          <a:xfrm>
            <a:off x="8188757" y="3136392"/>
            <a:ext cx="3637178" cy="402336"/>
          </a:xfrm>
          <a:prstGeom prst="roundRect">
            <a:avLst>
              <a:gd name="adj" fmla="val 11364"/>
            </a:avLst>
          </a:prstGeom>
          <a:solidFill>
            <a:srgbClr val="FBF0F2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02" name="punchTxt"/>
          <p:cNvSpPr txBox="1"/>
          <p:nvPr/>
        </p:nvSpPr>
        <p:spPr>
          <a:xfrm>
            <a:off x="8316773" y="3154680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i="1" dirty="0">
                <a:solidFill>
                  <a:srgbClr val="9F1239"/>
                </a:solidFill>
              </a:rPr>
              <a:t>Users call chatbots the efficient option — then bring them their highest-stakes questions, and act on the answer.</a:t>
            </a:r>
            <a:endParaRPr lang="en-US" sz="1050" dirty="0"/>
          </a:p>
        </p:txBody>
      </p:sp>
      <p:graphicFrame>
        <p:nvGraphicFramePr>
          <p:cNvPr id="103" name="outcomeChart" descr=""/>
          <p:cNvGraphicFramePr/>
          <p:nvPr/>
        </p:nvGraphicFramePr>
        <p:xfrm>
          <a:off x="8133893" y="3575304"/>
          <a:ext cx="3746906" cy="1042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4" name="Text 100"/>
          <p:cNvSpPr txBox="1"/>
          <p:nvPr/>
        </p:nvSpPr>
        <p:spPr>
          <a:xfrm>
            <a:off x="8188757" y="4636008"/>
            <a:ext cx="3637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5B6670"/>
                </a:solidFill>
              </a:rPr>
              <a:t>What happened after the session; selected outcomes (χ² = 16.2, p &lt; .001). 'No action' = nothing beyond reading it.</a:t>
            </a:r>
            <a:endParaRPr lang="en-US" sz="850" dirty="0"/>
          </a:p>
        </p:txBody>
      </p:sp>
      <p:sp>
        <p:nvSpPr>
          <p:cNvPr id="105" name="num6"/>
          <p:cNvSpPr txBox="1"/>
          <p:nvPr/>
        </p:nvSpPr>
        <p:spPr>
          <a:xfrm>
            <a:off x="8188757" y="4846320"/>
            <a:ext cx="201168" cy="201168"/>
          </a:xfrm>
          <a:prstGeom prst="ellipse">
            <a:avLst/>
          </a:prstGeom>
          <a:solidFill>
            <a:srgbClr val="1021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106" name="head6"/>
          <p:cNvSpPr txBox="1"/>
          <p:nvPr/>
        </p:nvSpPr>
        <p:spPr>
          <a:xfrm>
            <a:off x="8463077" y="4823460"/>
            <a:ext cx="33628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what, for IR evaluation</a:t>
            </a:r>
            <a:endParaRPr lang="en-US" sz="1450" dirty="0"/>
          </a:p>
        </p:txBody>
      </p:sp>
      <p:sp>
        <p:nvSpPr>
          <p:cNvPr id="107" name="implications"/>
          <p:cNvSpPr txBox="1"/>
          <p:nvPr/>
        </p:nvSpPr>
        <p:spPr>
          <a:xfrm>
            <a:off x="8216189" y="5193792"/>
            <a:ext cx="360974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0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Benchmark the two tools separately while they differ.</a:t>
            </a:r>
            <a:endParaRPr lang="en-US" sz="1000" dirty="0"/>
          </a:p>
          <a:p>
            <a:pPr marL="342900" indent="-342900">
              <a:lnSpc>
                <a:spcPct val="90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Search: reward source variety, verifiability, speed.</a:t>
            </a:r>
            <a:endParaRPr lang="en-US" sz="1000" dirty="0"/>
          </a:p>
          <a:p>
            <a:pPr marL="342900" indent="-342900">
              <a:lnSpc>
                <a:spcPct val="90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Chatbots: benchmark the high-stakes domains in actual use.</a:t>
            </a:r>
            <a:endParaRPr lang="en-US" sz="1000" dirty="0"/>
          </a:p>
          <a:p>
            <a:pPr marL="342900" indent="-342900">
              <a:lnSpc>
                <a:spcPct val="90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Score source attribution and confidence, not just fluency.</a:t>
            </a:r>
            <a:endParaRPr lang="en-US" sz="1000" dirty="0"/>
          </a:p>
          <a:p>
            <a:pPr marL="342900" indent="-342900">
              <a:lnSpc>
                <a:spcPct val="90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Audit hybrids: do search's strengths survive?</a:t>
            </a:r>
            <a:endParaRPr lang="en-US" sz="1000" dirty="0"/>
          </a:p>
        </p:txBody>
      </p:sp>
      <p:sp>
        <p:nvSpPr>
          <p:cNvPr id="108" name="limits"/>
          <p:cNvSpPr/>
          <p:nvPr/>
        </p:nvSpPr>
        <p:spPr>
          <a:xfrm>
            <a:off x="8188757" y="6062472"/>
            <a:ext cx="3637178" cy="420624"/>
          </a:xfrm>
          <a:prstGeom prst="roundRect">
            <a:avLst>
              <a:gd name="adj" fmla="val 10870"/>
            </a:avLst>
          </a:prstGeom>
          <a:solidFill>
            <a:srgbClr val="F1F4F7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09" name="limitsTxt"/>
          <p:cNvSpPr txBox="1"/>
          <p:nvPr/>
        </p:nvSpPr>
        <p:spPr>
          <a:xfrm>
            <a:off x="8298485" y="6094476"/>
            <a:ext cx="34177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52028"/>
                </a:solidFill>
              </a:rPr>
              <a:t>Limits &amp; our question:  </a:t>
            </a:r>
            <a:pPr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84 digitally literate Prolific users, self-reported single sessions, captured before AI Mode. Does the gap close once chatbots cite their sources?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 IR 2026">
  <a:themeElements>
    <a:clrScheme name="Poster IR 2026">
      <a:dk1>
        <a:srgbClr val="152028"/>
      </a:dk1>
      <a:lt1>
        <a:srgbClr val="FFFFFF"/>
      </a:lt1>
      <a:dk2>
        <a:srgbClr val="10212E"/>
      </a:dk2>
      <a:lt2>
        <a:srgbClr val="F1F4F7"/>
      </a:lt2>
      <a:accent1>
        <a:srgbClr val="0B6EA8"/>
      </a:accent1>
      <a:accent2>
        <a:srgbClr val="C2410C"/>
      </a:accent2>
      <a:accent3>
        <a:srgbClr val="9F1239"/>
      </a:accent3>
      <a:accent4>
        <a:srgbClr val="5B6670"/>
      </a:accent4>
      <a:accent5>
        <a:srgbClr val="7E96A6"/>
      </a:accent5>
      <a:accent6>
        <a:srgbClr val="E8B14C"/>
      </a:accent6>
      <a:hlink>
        <a:srgbClr val="0B6EA8"/>
      </a:hlink>
      <a:folHlink>
        <a:srgbClr val="6B4E8C"/>
      </a:folHlink>
    </a:clrScheme>
    <a:fontScheme name="Poster IR 2026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Comparative Study of Users Information-Seeking Practices</dc:title>
  <dc:subject>PptxGenJS Presentation</dc:subject>
  <dc:creator>Information Retrieval poster</dc:creator>
  <cp:lastModifiedBy>Information Retrieval poster</cp:lastModifiedBy>
  <cp:revision>1</cp:revision>
  <dcterms:created xsi:type="dcterms:W3CDTF">2026-10-12T10:16:47Z</dcterms:created>
  <dcterms:modified xsi:type="dcterms:W3CDTF">2026-10-12T10:16:47Z</dcterms:modified>
</cp:coreProperties>
</file>